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8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60" r:id="rId2"/>
    <p:sldId id="257" r:id="rId3"/>
    <p:sldId id="258" r:id="rId4"/>
    <p:sldId id="259" r:id="rId5"/>
    <p:sldId id="319" r:id="rId6"/>
    <p:sldId id="261" r:id="rId7"/>
    <p:sldId id="315" r:id="rId8"/>
    <p:sldId id="264" r:id="rId9"/>
    <p:sldId id="263" r:id="rId10"/>
    <p:sldId id="314" r:id="rId11"/>
    <p:sldId id="265" r:id="rId12"/>
    <p:sldId id="272" r:id="rId13"/>
    <p:sldId id="267" r:id="rId14"/>
    <p:sldId id="266" r:id="rId15"/>
    <p:sldId id="269" r:id="rId16"/>
    <p:sldId id="311" r:id="rId17"/>
    <p:sldId id="312" r:id="rId18"/>
    <p:sldId id="307" r:id="rId19"/>
    <p:sldId id="294" r:id="rId20"/>
    <p:sldId id="316" r:id="rId21"/>
    <p:sldId id="317" r:id="rId22"/>
    <p:sldId id="318" r:id="rId23"/>
    <p:sldId id="271" r:id="rId24"/>
    <p:sldId id="310" r:id="rId25"/>
    <p:sldId id="301" r:id="rId26"/>
    <p:sldId id="306" r:id="rId27"/>
    <p:sldId id="320" r:id="rId28"/>
    <p:sldId id="277" r:id="rId29"/>
    <p:sldId id="278" r:id="rId30"/>
    <p:sldId id="279" r:id="rId31"/>
    <p:sldId id="281" r:id="rId32"/>
    <p:sldId id="284" r:id="rId33"/>
    <p:sldId id="289" r:id="rId34"/>
    <p:sldId id="322" r:id="rId35"/>
    <p:sldId id="321" r:id="rId36"/>
    <p:sldId id="273" r:id="rId37"/>
    <p:sldId id="274" r:id="rId38"/>
    <p:sldId id="275" r:id="rId39"/>
    <p:sldId id="276" r:id="rId40"/>
    <p:sldId id="296" r:id="rId41"/>
    <p:sldId id="302" r:id="rId42"/>
    <p:sldId id="313" r:id="rId43"/>
    <p:sldId id="323" r:id="rId44"/>
    <p:sldId id="32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CFDFA"/>
    <a:srgbClr val="F7F9F2"/>
    <a:srgbClr val="D6D6D6"/>
    <a:srgbClr val="01269C"/>
    <a:srgbClr val="E317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588B1-D642-45A6-AB7D-868793BCA88E}" v="206" dt="2025-11-14T18:13:33.850"/>
    <p1510:client id="{9034BCC2-C2C1-7948-861D-85CEE17408B9}" v="862" dt="2025-11-15T11:24:29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22"/>
    <p:restoredTop sz="79408"/>
  </p:normalViewPr>
  <p:slideViewPr>
    <p:cSldViewPr snapToGrid="0">
      <p:cViewPr>
        <p:scale>
          <a:sx n="105" d="100"/>
          <a:sy n="105" d="100"/>
        </p:scale>
        <p:origin x="4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11:21:14.4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1016 24575,'52'-12'0,"-7"0"0,-30 5 0,-1 1 0,1-1 0,-1 0 0,-1 0 0,-3 2 0,-2 1 0,-2 1 0,0 1 0,0 0 0,-1 0 0,3 0 0,-2 0 0,2-2 0,-1 2 0,2-2 0,2-1 0,1-2 0,-1-1 0,2 0 0,0-1 0,0 1 0,1-1 0,1-1 0,0 0 0,2 0 0,1-1 0,-1 2 0,-2-1 0,-1 3 0,-4 1 0,-1 1 0,-1 2 0,-2 1 0,1 2 0,-1-2 0,-1-1 0,2-1 0,0-1 0,4-1 0,3-4 0,7-7 0,4-3 0,4-2 0,-1 2 0,-4 6 0,-6 4 0,-6 3 0,-3 2 0,-4 0 0,-2 1 0,1-1 0,-3-1 0,4 0 0,0 0 0,2-2 0,4-6 0,8-9 0,7-10 0,11-11 0,-16 19 0,1 0 0,0-1 0,-1 1 0,17-19 0,-11 16 0,-10 10 0,-7 6 0,-4 5 0,0-3 0,5-7 0,11-12 0,14-12 0,-15 17 0,1 0 0,21-20 0,-8 11 0,-15 11 0,-9 9 0,-8 4 0,-5 4 0,-4 0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3:09:2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24575,'22'2'0,"0"2"0,-1 0 0,0 1 0,39 15 0,-60-19 0,29 10 0,51 30 0,-28-13 0,-31-16 0,-1 1 0,-1 1 0,20 17 0,18 14 0,-16-15 0,74 71 0,-92-78 0,96 101 0,-100-102 0,-2 1 0,0 1 0,25 50 0,67 138 0,-94-176 0,11 46 0,8 21 0,-24-74 0,10 44 0,5 14 0,36 126 0,-42-135 0,-3-12 27,12 44-1419,-22-94-5434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3:09:35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0 125 24575,'4'0'0,"1"1"0,-1 0 0,0 0 0,0 0 0,0 0 0,0 1 0,0 0 0,0 0 0,-1 0 0,1 0 0,5 4 0,36 33 0,-39-33 0,125 129 0,-125-129 0,-1-2 0,-1 0 0,1 0 0,0 0 0,0 0 0,10 4 0,-14-7 0,0-1 0,0 1 0,1-1 0,-1 0 0,0 0 0,0 1 0,0-1 0,0 0 0,1 0 0,-1 0 0,0 0 0,0-1 0,0 1 0,1 0 0,-1 0 0,0-1 0,0 1 0,0-1 0,0 1 0,0-1 0,0 1 0,0-1 0,0 0 0,0 1 0,0-1 0,0 0 0,0 0 0,0 0 0,0 0 0,-1 0 0,1 0 0,0 0 0,-1 0 0,1 0 0,0-2 0,11-20 0,-1-1 0,9-32 0,-14 37 0,0 0 0,2 1 0,0 0 0,1 0 0,20-28 0,-26 42-77,9-10-245,-1-1 0,-1 0 0,11-23 0,-14 22-6504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3:09:3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642 1 24575,'-5'1'0,"1"0"0,0 1 0,0 0 0,0 0 0,1 0 0,-1 0 0,0 1 0,-5 3 0,-1 2 0,-33 19 0,7-6 0,0 2 0,2 2 0,1 1 0,-38 38 0,-30 57 0,83-98 0,2 1 0,0 1 0,1 1 0,-20 48 0,12-6 0,-16 74 0,30-105 0,4-17 0,1 1 0,0 0 0,0 25 0,2-21 0,-8 42 0,-1 15 0,-2-1 0,9-59 0,0 0 0,-1 25 0,5 51-1365,1-77-5461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3:09:4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24575,'3'1'0,"-1"0"0,1 1 0,-1-1 0,1 1 0,-1 0 0,0 0 0,0 0 0,1 0 0,-1 0 0,-1 0 0,1 0 0,0 1 0,-1-1 0,1 1 0,1 2 0,3 5 0,5 7 0,-1 0 0,0 1 0,-2 0 0,9 24 0,18 39 0,-28-67 0,-5-10 0,0 0 0,0 0 0,0 0 0,0 0 0,1 0 0,-1 0 0,1 0 0,0-1 0,0 0 0,1 1 0,-1-1 0,5 3 0,-6-6 0,0-1 0,1 1 0,-1 0 0,0-1 0,1 0 0,-1 1 0,0-1 0,0 0 0,0 0 0,1 0 0,-1-1 0,0 1 0,-1 0 0,1-1 0,0 1 0,0-1 0,-1 0 0,3-2 0,5-4 0,9-3 20,1 0-1,0 1 1,0 1-1,1 1 1,29-9-1,43-18-1501,-76 27-5344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3:11:49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24575,'0'831'0,"3"-802"0,0 0 0,2 0 0,2 0 0,0-1 0,18 42 0,-10-25 0,55 175 0,-64-205 0,0 0 0,2 0 0,-1 0 0,2-1 0,10 14 0,57 65 0,-50-63 0,3 4 0,1-2 0,56 46 0,-68-64 0,0-1 0,1-1 0,0 0 0,1-2 0,0 0 0,0-1 0,25 6 0,23 4 0,117 15 0,-166-32-341,0 1 0,0 0-1,35 12 1,-36-6-6485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3:11:5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24575,'2'5'0,"0"0"0,-1 0 0,1-1 0,1 1 0,-1-1 0,1 1 0,0-1 0,0 0 0,0 0 0,0 0 0,1 0 0,5 4 0,0 2 0,235 288 0,-241-294 0,0 0 0,0 1 0,0-1 0,-1 1 0,0 0 0,0 0 0,0-1 0,0 1 0,-1 0 0,1 1 0,-2-1 0,1 0 0,0 0 0,-1 0 0,0 1 0,0-1 0,0 0 0,-1 0 0,0 0 0,0 1 0,0-1 0,-1 0 0,0 0 0,0-1 0,-2 6 0,-7 7 0,0-1 0,-1 0 0,-1-1 0,-1 0 0,-20 18 0,18-18 0,0 0 0,2 1 0,-19 26 0,14-8 20,15-24-297,-1 0 0,-1-1 0,0 1 0,-8 9 0,4-9-6549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3:12:0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1345 0 24575,'0'63'0,"2"-15"0,-3-1 0,-10 72 0,-6-8 0,-13 62 0,13-100 0,-17 59 0,34-131 0,-18 59 0,-47 101 0,-35 31 0,85-168 0,-1 0 0,-1 0 0,-1-2 0,-1 0 0,-42 37 0,-123 82 0,157-121 0,-105 68 0,109-74 0,-1-1 0,-1-2 0,-47 16 0,55-23 0,0-1 0,0-1 0,-34 0 0,31-2 0,-1 1 0,-23 5 0,-153 32 0,177-33-1365,4 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3:12:0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24575,'0'20'0,"-1"0"0,0-1 0,-2 1 0,-1-1 0,0 0 0,-1 0 0,-1 0 0,-1 0 0,-15 29 0,-54 82 0,74-127 0,1 1 0,0-1 0,0 1 0,0-1 0,0 1 0,0-1 0,1 1 0,0 0 0,0-1 0,0 1 0,0 0 0,0-1 0,1 1 0,-1 0 0,1-1 0,0 1 0,0-1 0,0 1 0,1-1 0,-1 0 0,1 0 0,4 6 0,4 5 0,1-1 0,0 0 0,24 21 0,-2-3 0,-19-17-227,0-1-1,1-1 1,0 0-1,1-1 1,20 11-1,-20-13-6598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24:0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26 24575,'-4'-3'0,"0"0"0,0 1 0,0-1 0,0 1 0,0 0 0,0 1 0,-1-1 0,1 1 0,0-1 0,-1 1 0,0 0 0,-6 0 0,-56 0 0,57 2 0,1 1 0,0 0 0,-1 0 0,1 1 0,0 0 0,0 1 0,0 0 0,1 0 0,0 1 0,-1 0 0,2 1 0,-1 0 0,1 0 0,-9 9 0,-8 10 0,1 1 0,-30 45 0,13-13 0,2 2 0,-42 91 0,68-124 0,1 2 0,1 0 0,1 0 0,2 0 0,1 1 0,1 0 0,2 0 0,0 38 0,4-48 0,2-1 0,0 0 0,0 0 0,2 0 0,1 0 0,15 34 0,64 104 0,-9-20 0,-50-78 0,-3 1 0,-3 1 0,-3 1 0,-2 0 0,-3 1 0,-2 1 0,-4 0 0,-2 0 0,-6 89 0,0-132 0,-1 0 0,-1 0 0,-1 0 0,0 0 0,-2-1 0,0 0 0,-15 27 0,7-20 0,-1-2 0,-2 1 0,0-2 0,-33 33 0,28-35 0,15-15 0,0 1 0,0 0 0,0 0 0,1 1 0,1 0 0,-9 14 0,15-22 0,-1 0 0,1 0 0,0 0 0,0 0 0,0 0 0,0 0 0,0 0 0,0 0 0,0 0 0,0 0 0,1 0 0,-1 0 0,0 0 0,1 0 0,-1-1 0,0 1 0,1 0 0,-1 0 0,1 0 0,-1 0 0,1-1 0,0 1 0,-1 0 0,1 0 0,0-1 0,-1 1 0,1-1 0,0 1 0,1 0 0,29 17 0,-21-13 0,10 7 0,-1 1 0,-1 1 0,0 1 0,0 1 0,-2 0 0,0 1 0,-1 1 0,0 0 0,-2 1 0,0 0 0,-1 2 0,-1-1 0,-1 1 0,7 23 0,1 6 0,-3 1 0,-1 1 0,-4 0 0,-1 1 0,1 55 0,-6-10 0,-5 0 0,-4 1 0,-5-2 0,-3 1 0,-5-2 0,-37 115 0,34-139 0,-77 298 0,96-359 0,0 0 0,1 0 0,0 1 0,1-1 0,0 0 0,0 1 0,1-1 0,1 0 0,0 0 0,1 0 0,0 0 0,0 0 0,1 0 0,1-1 0,0 0 0,0 0 0,1 0 0,0 0 0,0-1 0,1 0 0,1 0 0,0-1 0,13 11 0,-7-8-114,0 0 1,1-1-1,1-1 0,0-1 0,0 0 1,0-1-1,1-1 0,0 0 0,0-2 1,1 0-1,27 3 0,-19-3-6712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25:4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2549 24575,'113'1'0,"129"-3"0,-177-5 0,0-2 0,-1-4 0,94-31 0,-54 14 0,2383-760-4255,-1680 452 3648,-549 209 225,251-167 0,101-124 102,-217 126 3395,-212 145-2408,-151 120-6814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25:5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0 24575,'-1'6'0,"-1"0"0,0-1 0,0 1 0,-1-1 0,1 1 0,-1-1 0,0 0 0,-4 5 0,-1 2 0,-13 25 0,-2 0 0,-1-2 0,-1-1 0,-46 46 0,68-77 0,0 1 0,0-1 0,0 0 0,0 1 0,1-1 0,0 1 0,0 0 0,0 0 0,0-1 0,0 2 0,1-1 0,0 0 0,0 0 0,0 0 0,0 0 0,0 6 0,2-3 0,-1 0 0,1 0 0,0 0 0,0-1 0,1 1 0,0 0 0,0-1 0,0 1 0,5 8 0,2-1 0,-1 0 0,2 0 0,0-1 0,0 0 0,1-1 0,1 0 0,22 17 0,8 3 0,-2 1 0,-1 2 0,-2 1 0,37 48 0,-59-65-1365,0-2-5461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28:3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24575,'1'6'0,"0"1"0,1-1 0,-1 1 0,1-1 0,0 0 0,4 7 0,3 10 0,5 15 0,1 0 0,2-1 0,2 0 0,1-2 0,2 0 0,49 59 0,245 252 0,-231-256 0,42 41 0,6-6 0,5-6 0,4-6 0,286 170 0,-250-188-422,5-8 1,331 108-1,408 36 175,-19-104 247,6-85 0,-269-45-262,-6-38-1,-350 4 463,-244 32-6554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28:3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 24575,'2'-17'0,"0"1"0,0-1 0,2 1 0,0 0 0,11-27 0,2-8 0,13-55 0,-30 102 0,1 0 0,0 0 0,1 0 0,-1 0 0,1 0 0,0 0 0,0 0 0,0 1 0,0-1 0,0 1 0,1 0 0,0-1 0,-1 1 0,1 0 0,6-4 0,-7 6 0,0 0 0,1 0 0,-1 0 0,1 0 0,-1 0 0,1 0 0,-1 1 0,1-1 0,-1 1 0,1 0 0,0 0 0,-1 0 0,1 0 0,-1 0 0,1 0 0,-1 1 0,1-1 0,0 1 0,-1 0 0,0 0 0,1 0 0,-1 0 0,0 0 0,1 0 0,3 4 0,163 100-1365,-153-93-5461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32:1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54:50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436 48 24575,'-1'-2'0,"1"1"0,-1-1 0,0 0 0,0 1 0,1-1 0,-1 0 0,0 1 0,0-1 0,0 1 0,-1 0 0,1-1 0,0 1 0,-1 0 0,1 0 0,0 0 0,-1-1 0,1 2 0,-1-1 0,0 0 0,1 0 0,-1 0 0,-2 0 0,-40-13 0,35 12 0,-1 1 0,0 0 0,-1 1 0,1 0 0,0 1 0,0 0 0,1 0 0,-1 1 0,0 1 0,0-1 0,1 2 0,-1-1 0,1 1 0,0 1 0,0-1 0,1 2 0,-10 6 0,0 1 0,2 1 0,-1 1 0,2 1 0,0 0 0,0 1 0,-21 34 0,29-39 0,0 1 0,2-1 0,-1 1 0,1 0 0,1 1 0,1-1 0,0 1 0,-2 21 0,2 10 0,3 59 0,2-49 0,-2-48 0,0 1 0,1 0 0,0-1 0,0 1 0,1-1 0,0 1 0,0-1 0,1 0 0,0 0 0,0 0 0,0 0 0,1 0 0,0-1 0,1 1 0,-1-1 0,8 7 0,-6-7 0,1-1 0,0 0 0,0-1 0,0 1 0,0-1 0,1 0 0,-1-1 0,1 0 0,0 0 0,0-1 0,0 0 0,1 0 0,-1-1 0,15 1 0,14 0 0,1-1 0,0-2 0,55-8 0,-84 6 0,1 1 0,-1-1 0,0-1 0,0 0 0,0 0 0,0 0 0,0-1 0,-1-1 0,0 0 0,0 0 0,-1 0 0,0-1 0,0 0 0,10-12 0,-8 6 0,-1 0 0,0-1 0,0 0 0,-2 0 0,1 0 0,-2-1 0,0 0 0,4-22 0,0-5 30,-2 0 0,-1 0 0,-1-74 0,-5 104-113,-1 0 1,0-1-1,-1 1 1,-1 0-1,1 0 1,-2 0-1,0 0 1,0 1-1,-1-1 1,-1 1-1,1 0 1,-2 0-1,0 1 1,0 0-1,-1 0 1,0 1-1,-14-13 1,9 12-6744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54:54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24575,'1'25'0,"2"1"0,6 29 0,-4-27 0,3 45 0,4 48 0,-6-80 0,1 49 0,-7-50 0,3 1 0,8 55 0,-6-65 0,0 49 0,-4-50 0,9 57 0,-6-65 0,0-1 0,2-1 0,1 1 0,0-1 0,16 29 0,12 15 0,-16-28 0,2 0 0,1-2 0,32 40 0,132 134 0,-150-172 0,1-1 0,2-2 0,65 42 0,-23-27 0,2-3 0,2-4 0,95 32 0,345 96 0,-323-107 0,-112-33 0,-34-10 0,96 50 0,46 42 0,52 42 0,-159-92 0,89 79 0,-34-9 0,-116-106 0,-1 2 0,-2 1 0,0 0 0,-2 3 0,-1 0 0,-2 1 0,-1 1 0,-1 1 0,-2 1 0,18 50 0,-27-60 0,-1 0 0,-1 0 0,-1 1 0,-2 0 0,0 1 0,0 36 0,-3-38 0,1 0 0,2 0 0,0-1 0,2 1 0,13 35 0,8 40 0,-20-59 0,-3 1 0,-1 0 0,-4 53 0,0-45 0,9 91 0,81 420 0,42 297 0,-103-552 0,10 73 0,-29-320 0,38 301 0,-42-2 0,-7-201 0,4-131 0,0 0 0,7 29 0,-3-25 0,1 36 0,-4 37 0,5 80 0,34 465 0,-17-14 0,-2-169 0,3 54 0,-27-461-65,0-34-195,1 0 0,1 1 0,1-1 0,8 33 0,-5-39-6566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54:55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24575,'1'8'0,"1"-1"0,0 1 0,0-1 0,1 1 0,-1-1 0,2 0 0,-1 0 0,8 10 0,-1 1 0,8 12 0,2 0 0,37 43 0,-30-41 0,30 50 0,-56-80 0,0 0 0,0-1 0,0 1 0,0 0 0,0-1 0,0 1 0,1-1 0,-1 1 0,0-1 0,1 0 0,-1 1 0,1-1 0,-1 0 0,1 0 0,0 0 0,0 0 0,-1 0 0,1-1 0,0 1 0,0 0 0,0-1 0,0 0 0,-1 1 0,1-1 0,0 0 0,0 0 0,2 0 0,-1-1 0,0 0 0,0 0 0,0-1 0,0 1 0,0-1 0,0 1 0,0-1 0,-1 0 0,1 0 0,-1-1 0,0 1 0,1 0 0,-1-1 0,0 1 0,3-6 0,114-179 0,-8-2-1365,-101 173-5461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56:02.2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425 104 24575,'-28'-10'0,"3"0"0,-12 5 0,0 1 0,-1 3 0,1 0 0,-42 6 0,73-4 0,0 0 0,0 0 0,-1 0 0,1 1 0,0 0 0,0 0 0,0 0 0,1 1 0,-1 0 0,1 0 0,-1 0 0,1 1 0,0 0 0,0 0 0,-6 7 0,6-5 0,0 0 0,1 1 0,0 0 0,0 0 0,0 0 0,1 1 0,0-1 0,0 1 0,1 0 0,-3 15 0,3-10 0,0 1 0,2-1 0,0 1 0,0 0 0,1-1 0,1 1 0,0-1 0,1 1 0,0-1 0,1 0 0,1 0 0,0-1 0,13 24 0,-11-26 0,0 0 0,1 0 0,-1-1 0,2-1 0,-1 1 0,1-1 0,1 0 0,-1-1 0,1 0 0,0-1 0,18 8 0,-12-8 0,0 0 0,1-1 0,0-1 0,0-1 0,0 0 0,0-1 0,26-1 0,2 0 0,169-5 0,-204 3 0,0-1 0,0 0 0,0-1 0,-1 0 0,1 0 0,-1-1 0,0 0 0,0 0 0,0-1 0,-1-1 0,0 1 0,0-1 0,0-1 0,0 1 0,-1-1 0,0-1 0,-1 1 0,0-1 0,0 0 0,-1-1 0,6-10 0,-5 6 0,0 1 0,-1-1 0,0 0 0,-1 0 0,0-1 0,-1 1 0,-1-1 0,0 0 0,-1 0 0,-1 0 0,0 0 0,-1 1 0,0-1 0,-6-26 0,3 30 8,0 0-1,0 0 1,-1 1-1,0 0 1,-1 0-1,0 0 1,0 0-1,-1 1 1,0 0-1,0 0 1,-1 1-1,0 0 1,0 0-1,-1 1 0,-16-9 1,7 5-194,-1 1 1,0 0-1,0 1 0,-1 2 1,0 0-1,0 1 1,-23-3-1,10 5-6640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56:07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6168 1 24575,'1'0'0,"0"1"0,0-1 0,0 1 0,0-1 0,0 1 0,0-1 0,0 1 0,0 0 0,0 0 0,0-1 0,0 1 0,0 0 0,0 0 0,-1 0 0,1 0 0,0 0 0,-1 0 0,1 0 0,-1 0 0,1 0 0,-1 0 0,0 1 0,1-1 0,-1 0 0,0 0 0,0 0 0,1 3 0,3 37 0,-4-36 0,0 16 0,-1-1 0,-2 1 0,0 0 0,-1-1 0,-1 1 0,-15 37 0,-10 43 0,-14 43 0,11-43 0,11-24 0,-4-1 0,-62 127 0,-85 190 0,150-335 0,-5 15 0,-21 48 0,-9 13 0,34-76 0,-21 37 0,-4-2 0,-62 87 0,108-176 0,-13 21 0,-19 32 0,-2-2 0,-2-2 0,-69 71 0,1-3 0,73-78 0,-53 48 0,67-73 0,-15 15 0,-53 38 0,70-59 0,-310 199 0,300-198 0,-1-1 0,0-2 0,-1 0 0,-44 7 0,0 1 0,-73 14 0,-1-6 0,-154 7 0,81-7 0,182-19 0,0 2 0,-40 14 0,-39 10 0,-135 20 0,186-36 0,1 2 0,-78 35 0,39-15 0,60-19 0,1 1 0,1 2 0,1 2 0,-44 34 0,68-47 0,-82 53 0,59-41 0,2 2 0,1 2 0,-50 45 0,-44 68 0,97-107 0,-1-2 0,-2-1 0,-52 33 0,-56 46 0,-180 230 0,211-184 0,54-68 0,-58 106 0,52-78 0,31-59 0,3 2 0,2 1 0,3 1 0,-25 79 0,36-86 0,-3-1 0,-37 69 0,46-96 0,0 0 0,2 0 0,1 1 0,-6 34 0,-11 112 0,24-153 0,-2 0 0,0 0 0,-1 0 0,-1 0 0,-14 34 0,-21 29 0,19-42 0,2 1 0,1 0 0,3 2 0,-12 50 0,13-39 0,9-36 0,0 0 0,2 0 0,-2 24 0,6 110 0,-3 45 0,-10-120 0,7-51 0,-3 46 0,6-47 0,-1-1 0,-2 1 0,-10 34 0,8-35 0,1 0 0,1 1 0,-3 40 0,10 45 0,0-55 0,-5 56 0,-13-51-1365,12-44-5461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4:56:08.1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24575,'2'37'0,"1"-1"0,2 1 0,2-1 0,16 50 0,-21-78 0,5 24 0,-5-21 0,0 0 0,1-1 0,1 1 0,7 16 0,-10-24 0,1-1 0,0 1 0,-1 0 0,1-1 0,1 1 0,-1-1 0,0 0 0,1 0 0,-1 0 0,1 0 0,-1 0 0,1 0 0,0-1 0,0 1 0,0-1 0,0 0 0,0 0 0,0 0 0,0 0 0,5 0 0,-2 0 0,1 0 0,0 0 0,-1-1 0,1 0 0,0-1 0,0 1 0,-1-1 0,1-1 0,-1 1 0,1-1 0,-1 0 0,0-1 0,1 1 0,-1-1 0,0-1 0,-1 1 0,8-6 0,-4 1 0,-1 0 0,0 0 0,0-1 0,-1 0 0,0 0 0,-1-1 0,0 0 0,0 0 0,5-14 0,-3 7-1365,1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5:40:1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437 126 24575,'0'-4'0,"-1"0"0,1 0 0,0 1 0,-1-1 0,0 0 0,0 0 0,0 1 0,0-1 0,-1 1 0,1-1 0,-1 1 0,0 0 0,0-1 0,0 1 0,0 0 0,-1 0 0,1 0 0,-1 1 0,0-1 0,0 1 0,0-1 0,0 1 0,0 0 0,0 0 0,0 0 0,-5-1 0,-8-3 0,0 1 0,0 0 0,0 2 0,-29-4 0,13 2 0,21 3 0,-5-1 0,0 1 0,-1 0 0,1 1 0,-21 1 0,33 0 0,0 1 0,0-1 0,0 1 0,0 0 0,0 0 0,0 1 0,0-1 0,0 1 0,0 0 0,0 0 0,1 0 0,-1 0 0,1 1 0,0-1 0,0 1 0,0 0 0,0 0 0,0 0 0,0 0 0,1 1 0,-4 6 0,-2 7 0,0 1 0,2-1 0,0 1 0,1 0 0,0 1 0,2-1 0,0 1 0,2 0 0,0 0 0,0-1 0,5 34 0,-3-46 0,0 1 0,0-1 0,1 0 0,-1 0 0,1-1 0,1 1 0,-1 0 0,1-1 0,0 1 0,0-1 0,1 0 0,-1 0 0,1 0 0,6 5 0,-3-4 0,0 0 0,0 0 0,1-1 0,0 0 0,0-1 0,1 0 0,-1 0 0,16 5 0,-2-4 0,1 0 0,0-1 0,0-2 0,1 0 0,-1-1 0,42-5 0,-58 3 0,0 0 0,0 0 0,0-1 0,0 0 0,-1 0 0,1 0 0,-1-1 0,1 0 0,-1-1 0,0 1 0,0-1 0,0-1 0,-1 1 0,1-1 0,-1 0 0,5-6 0,-4 4 0,-1 0 0,-1-1 0,0 1 0,0-1 0,0 0 0,-1 0 0,0 0 0,-1 0 0,1 0 0,-2-1 0,1 1 0,-1-1 0,0-9 0,-5-160 0,0 157-1365,-1 5-5461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5:40:21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0 24575,'-14'0'0,"0"1"0,0 1 0,0 0 0,0 1 0,1 0 0,-1 1 0,1 0 0,0 1 0,0 1 0,1 0 0,-1 1 0,1 0 0,-11 9 0,10-5 0,-1 0 0,2 2 0,0 0 0,0 0 0,1 1 0,1 0 0,0 1 0,1 0 0,-13 30 0,-40 116 0,55-137 0,1 1 0,2-1 0,0 1 0,-1 47 0,7 467 0,-1-507 0,1 0 0,2 0 0,1 0 0,2 0 0,19 55 0,-9-42 0,3-1 0,1 0 0,35 50 0,36 50 0,301 439 0,-300-469 0,171 162 0,-142-169 0,163 111 0,65 53 0,236 182 0,-88-67 0,-433-323 0,-2 2 0,77 105 0,-80-84 0,93 181 0,-147-252 0,-1-1 0,0 1 0,-1 0 0,-1 1 0,0-1 0,-1 1 0,0-1 0,-2 21 0,2 10 0,22 82 0,-20-94 0,1-1 0,17 55 0,-3-13 0,23 83-1365,-37-141-5461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5:40:22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1 194 24575,'15'2'0,"0"0"0,1 1 0,-1 1 0,0 0 0,-1 1 0,1 1 0,-1 0 0,27 17 0,-18-11 0,48 18 0,-42-18 0,-1 1 0,0 1 0,-1 1 0,28 20 0,1 1 0,-56-36 0,1 1 0,0-1 0,-1 1 0,1-1 0,0 1 0,-1-1 0,1 1 0,0-1 0,0 1 0,-1-1 0,1 0 0,0 1 0,0-1 0,-1 0 0,1 0 0,0 0 0,0 0 0,0 0 0,0 0 0,-1 0 0,1 0 0,0 0 0,0 0 0,0 0 0,0 0 0,-1-1 0,1 1 0,0 0 0,0-1 0,-1 1 0,1 0 0,0-1 0,0 1 0,-1-1 0,1 1 0,0-1 0,-1 1 0,1-1 0,-1 0 0,1 1 0,-1-1 0,1 0 0,-1 1 0,1-1 0,-1 0 0,0 0 0,0 1 0,1-1 0,-1 0 0,0 0 0,0 0 0,1-1 0,0-7 0,0 0 0,-1-1 0,0 1 0,-1-11 0,0-1 0,2 8 0,1 0 0,0 1 0,1 0 0,1-1 0,0 1 0,0 0 0,1 1 0,0-1 0,1 1 0,9-12 0,10-13 0,47-50 0,-51 62 0,-2 4-1365,-2 5-5461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5T00:28:40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437 126 24575,'0'-4'0,"-1"0"0,1 0 0,0 1 0,-1-1 0,0 0 0,0 0 0,0 1 0,0-1 0,-1 1 0,1-1 0,-1 1 0,0 0 0,0-1 0,0 1 0,0 0 0,-1 0 0,1 0 0,-1 1 0,0-1 0,0 1 0,0-1 0,0 1 0,0 0 0,0 0 0,0 0 0,-5-1 0,-8-3 0,0 1 0,0 0 0,0 2 0,-29-4 0,13 2 0,21 3 0,-5-1 0,0 1 0,-1 0 0,1 1 0,-21 1 0,33 0 0,0 1 0,0-1 0,0 1 0,0 0 0,0 0 0,0 1 0,0-1 0,0 1 0,0 0 0,0 0 0,1 0 0,-1 0 0,1 1 0,0-1 0,0 1 0,0 0 0,0 0 0,0 0 0,0 0 0,1 1 0,-4 6 0,-2 7 0,0 1 0,2-1 0,0 1 0,1 0 0,0 1 0,2-1 0,0 1 0,2 0 0,0 0 0,0-1 0,5 34 0,-3-46 0,0 1 0,0-1 0,1 0 0,-1 0 0,1-1 0,1 1 0,-1 0 0,1-1 0,0 1 0,0-1 0,1 0 0,-1 0 0,1 0 0,6 5 0,-3-4 0,0 0 0,0 0 0,1-1 0,0 0 0,0-1 0,1 0 0,-1 0 0,16 5 0,-2-4 0,1 0 0,0-1 0,0-2 0,1 0 0,-1-1 0,42-5 0,-58 3 0,0 0 0,0 0 0,0-1 0,0 0 0,-1 0 0,1 0 0,-1-1 0,1 0 0,-1-1 0,0 1 0,0-1 0,0-1 0,-1 1 0,1-1 0,-1 0 0,5-6 0,-4 4 0,-1 0 0,-1-1 0,0 1 0,0-1 0,0 0 0,-1 0 0,0 0 0,-1 0 0,1 0 0,-2-1 0,1 1 0,-1-1 0,0-9 0,-5-160 0,0 157-1365,-1 5-5461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5:40:18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437 126 24575,'0'-4'0,"-1"0"0,1 0 0,0 1 0,-1-1 0,0 0 0,0 0 0,0 1 0,0-1 0,-1 1 0,1-1 0,-1 1 0,0 0 0,0-1 0,0 1 0,0 0 0,-1 0 0,1 0 0,-1 1 0,0-1 0,0 1 0,0-1 0,0 1 0,0 0 0,0 0 0,0 0 0,-5-1 0,-8-3 0,0 1 0,0 0 0,0 2 0,-29-4 0,13 2 0,21 3 0,-5-1 0,0 1 0,-1 0 0,1 1 0,-21 1 0,33 0 0,0 1 0,0-1 0,0 1 0,0 0 0,0 0 0,0 1 0,0-1 0,0 1 0,0 0 0,0 0 0,1 0 0,-1 0 0,1 1 0,0-1 0,0 1 0,0 0 0,0 0 0,0 0 0,0 0 0,1 1 0,-4 6 0,-2 7 0,0 1 0,2-1 0,0 1 0,1 0 0,0 1 0,2-1 0,0 1 0,2 0 0,0 0 0,0-1 0,5 34 0,-3-46 0,0 1 0,0-1 0,1 0 0,-1 0 0,1-1 0,1 1 0,-1 0 0,1-1 0,0 1 0,0-1 0,1 0 0,-1 0 0,1 0 0,6 5 0,-3-4 0,0 0 0,0 0 0,1-1 0,0 0 0,0-1 0,1 0 0,-1 0 0,16 5 0,-2-4 0,1 0 0,0-1 0,0-2 0,1 0 0,-1-1 0,42-5 0,-58 3 0,0 0 0,0 0 0,0-1 0,0 0 0,-1 0 0,1 0 0,-1-1 0,1 0 0,-1-1 0,0 1 0,0-1 0,0-1 0,-1 1 0,1-1 0,-1 0 0,5-6 0,-4 4 0,-1 0 0,-1-1 0,0 1 0,0-1 0,0 0 0,-1 0 0,0 0 0,-1 0 0,1 0 0,-2-1 0,1 1 0,-1-1 0,0-9 0,-5-160 0,0 157-1365,-1 5-5461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27:35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1053 1861 24575,'2'-2'0,"0"-1"0,-1 0 0,1 0 0,0 0 0,-1 0 0,0 0 0,1 0 0,-1 0 0,0-5 0,4-6 0,11-33 0,-2-1 0,-2-1 0,-2 0 0,-3 0 0,-1-1 0,-3 0 0,-5-97 0,-5 90 0,-1 1 0,-3 0 0,-2 1 0,-3 1 0,-2 0 0,-47-95 0,14 53 0,-114-159 0,113 188 0,-2 1 0,-118-108 0,144 150 0,-1 1 0,-1 1 0,-1 1 0,-53-26 0,65 39 0,-1 0 0,0 1 0,0 1 0,0 1 0,-1 1 0,1 1 0,-1 0 0,0 2 0,-31 1 0,-1 0-1365,35-3-5461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27:38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0 24575,'-5'4'0,"0"-1"0,0 0 0,-1 0 0,1 0 0,-1 0 0,0-1 0,0 0 0,-11 3 0,-4 1 0,-184 50 0,67-21 0,133-34 0,1 0 0,-1 1 0,0-1 0,1 1 0,0 0 0,-1 0 0,1 1 0,0-1 0,0 1 0,0 0 0,0 0 0,-3 4 0,5-3 0,0-1 0,0 1 0,0-1 0,0 1 0,1 0 0,0 0 0,0 0 0,0-1 0,0 1 0,0 0 0,1 0 0,-1 1 0,1-1 0,1 6 0,3 36 0,3 0 0,1-1 0,2 0 0,32 83 0,-8-20 0,-12-20-1365,-17-56-5461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49:4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0 145 24575,'0'3'0,"7"142"0,-5-128 0,1 0 0,1 0 0,1 0 0,0 0 0,2-1 0,9 20 0,-4-15 0,1-1 0,1 0 0,1-2 0,0 1 0,1-2 0,1 0 0,1-1 0,0 0 0,1-2 0,29 17 0,21 7 0,133 53 0,-126-60 0,23 10 0,2-4 0,2-5 0,190 35 0,-104-47 0,281-6 0,-8-33 0,-340 6 0,211-51 0,-172 19 0,-2-7 0,-3-8 0,-2-6 0,155-92 0,180-138 0,-373 224 0,-58 35-682,76-65-1,-104 76-6143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49:4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24575,'0'-1'0,"0"1"0,0 0 0,1-1 0,-1 1 0,0 0 0,0-1 0,1 1 0,-1 0 0,0 0 0,0-1 0,1 1 0,-1 0 0,0 0 0,1 0 0,-1 0 0,0-1 0,1 1 0,-1 0 0,1 0 0,-1 0 0,0 0 0,1 0 0,-1 0 0,0 0 0,1 0 0,-1 0 0,1 0 0,-1 0 0,0 0 0,1 0 0,-1 0 0,0 0 0,1 1 0,-1-1 0,0 0 0,1 0 0,-1 0 0,22 7 0,-16-5 0,227 59 0,-230-61 0,0 1 0,-1 0 0,1 1 0,0-1 0,-1 0 0,1 1 0,-1-1 0,0 1 0,1 0 0,-1 0 0,0 0 0,0 0 0,0 0 0,0 0 0,-1 0 0,1 1 0,-1-1 0,1 1 0,-1-1 0,0 1 0,0 0 0,0-1 0,0 1 0,0 0 0,-1 0 0,1 0 0,-1 4 0,1 6 0,-2 1 0,0-1 0,-1 1 0,-5 22 0,0 0 0,-18 91-1365,20-110-5461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49:46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1112 24575,'1'-4'0,"0"1"0,0-1 0,0 0 0,1 0 0,-1 1 0,1-1 0,0 1 0,0 0 0,1-1 0,-1 1 0,0 0 0,4-3 0,3-5 0,23-29 0,1 1 0,2 2 0,2 1 0,1 2 0,1 2 0,2 2 0,75-43 0,23 1 0,176-63 0,155-30 0,-469 165 0,486-128 0,4 40 0,-388 71 0,541-77 0,-448 74 0,257 8 0,-375 16 0,1 4 0,-1 4 0,-1 2 0,84 29 0,-64-11 0,-2 5 0,154 82 0,-215-98 0,-1 1 0,-1 1 0,42 39 0,77 92 0,-120-122-106,-8-8-209,0 0 0,-2 2 1,24 36-1,-35-43-6511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20:49:4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 24575,'8'34'0,"-1"-9"0,29 214 0,-29-211 0,-6-23 0,1 0 0,-1 0 0,0 0 0,0 1 0,-1-1 0,1 6 0,-2-10 0,1 1 0,0 0 0,-1 0 0,1-1 0,-1 1 0,1 0 0,-1-1 0,0 1 0,0 0 0,0-1 0,0 1 0,0-1 0,0 0 0,0 1 0,0-1 0,-1 0 0,1 0 0,0 0 0,-1 0 0,1 0 0,-1 0 0,-2 1 0,-17 8 0,-1-2 0,-1-1 0,0 0 0,-40 5 0,21-3 0,-46 9-1365,70-11-5461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E6DB4-F71C-1A4F-8837-680A69337C1E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BAE60-9B38-5749-AC6F-240A7A284C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9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www.alcirclebiz.com</a:t>
            </a:r>
            <a:r>
              <a:rPr lang="en-US" dirty="0"/>
              <a:t>//Uploads/</a:t>
            </a:r>
            <a:r>
              <a:rPr lang="en-US" dirty="0" err="1"/>
              <a:t>ProductImage</a:t>
            </a:r>
            <a:r>
              <a:rPr lang="en-US" dirty="0"/>
              <a:t>/17984/1688302544383.JPEG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canvas.ubc.ca</a:t>
            </a:r>
            <a:r>
              <a:rPr lang="en-US" dirty="0"/>
              <a:t>/courses/181840/files/40250851?module_item_id=8206638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commons.wikimedia.org</a:t>
            </a:r>
            <a:r>
              <a:rPr lang="en-US" dirty="0"/>
              <a:t>/wiki/</a:t>
            </a:r>
            <a:r>
              <a:rPr lang="en-US" dirty="0" err="1"/>
              <a:t>File:Crystal_Meth.jpg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22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chem.ubc.ca</a:t>
            </a:r>
            <a:r>
              <a:rPr lang="en-US" dirty="0"/>
              <a:t>/high-resolution-</a:t>
            </a:r>
            <a:r>
              <a:rPr lang="en-US" dirty="0" err="1"/>
              <a:t>nmr</a:t>
            </a:r>
            <a:r>
              <a:rPr lang="en-US" dirty="0"/>
              <a:t>-spectroscopy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hobarts.com</a:t>
            </a:r>
            <a:r>
              <a:rPr lang="en-US" dirty="0"/>
              <a:t>/pages/the-ultimate-guide-to-lasers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27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theory.labster.com</a:t>
            </a:r>
            <a:r>
              <a:rPr lang="en-US" dirty="0"/>
              <a:t>/electromagnetic-waves/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75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www.hofner.com</a:t>
            </a:r>
            <a:r>
              <a:rPr lang="en-US" dirty="0"/>
              <a:t>/shop/h500-1-61-0-h500-1-61-0-violin-bass-cavern-3201?category=476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86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94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01F4-EF5C-660F-F8EA-7CE096F3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8E76A-2E11-371E-CA0B-546646AE3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94856-04A4-4CC4-D81D-382FADD6C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631B4-4EFF-BA33-1970-314E869B1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696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7C65-E76F-534B-7DEB-B77D8EF11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4D1F7-CA72-AD96-95E1-FF3EB452C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59207-3C3A-36A3-2131-BBD5A4F0F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CDA8F-A149-4A0A-A132-A3693C327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35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B22B-0840-4021-74B2-E880F06F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48F15-7CB1-A979-92FE-8835C5670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3F15E-71A0-C5CF-8662-F070FA897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31E15-F0ED-DF9A-05E7-37DBDDD32F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52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www.nobelprize.org</a:t>
            </a:r>
            <a:r>
              <a:rPr lang="en-US" dirty="0"/>
              <a:t>/prizes/physics/1944/rabi/facts/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43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www.nobelprize.org</a:t>
            </a:r>
            <a:r>
              <a:rPr lang="en-US" dirty="0"/>
              <a:t>/prizes/physics/1944/rabi/facts/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48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www.nobelprize.org</a:t>
            </a:r>
            <a:r>
              <a:rPr lang="en-US" dirty="0"/>
              <a:t>/prizes/physics/1952/summary/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8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</a:t>
            </a:r>
            <a:r>
              <a:rPr lang="en-US" sz="1200" dirty="0" err="1"/>
              <a:t>www.nobelprize.org</a:t>
            </a:r>
            <a:r>
              <a:rPr lang="en-US" sz="1200" dirty="0"/>
              <a:t>/prizes/chemistry/1991/</a:t>
            </a:r>
            <a:r>
              <a:rPr lang="en-US" sz="1200" dirty="0" err="1"/>
              <a:t>ernst</a:t>
            </a:r>
            <a:r>
              <a:rPr lang="en-US" sz="1200" dirty="0"/>
              <a:t>/facts/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48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52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commons.wikimedia.org</a:t>
            </a:r>
            <a:r>
              <a:rPr lang="en-US" dirty="0"/>
              <a:t>/wiki/File:Fourier2.jpg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04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149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04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app.nmrium.com</a:t>
            </a:r>
            <a:r>
              <a:rPr lang="en-US" dirty="0"/>
              <a:t>/predict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BAE60-9B38-5749-AC6F-240A7A284C2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09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8888-3C7E-31F3-2838-C5EE9D4CE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6671C-75A0-E198-723E-7ACAFCC4D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5B26-61F7-80AC-291C-0F0AC861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D7719-4B4C-9171-1966-547D8C53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3C3C1-2071-6DE1-057C-9F0467D9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5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37ED-941A-AC3F-01ED-2CAAE1B0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022C-394F-30DC-224B-840CA0948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6E8E7-1610-4786-5AA7-DA2AEC9A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C4742-4CE8-BA33-3852-1A324A9E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443C9-249E-6F71-A60D-D3ECF9721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9EDC5-84BF-2833-E806-B91CAECD0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7DC95-C795-94EA-DB06-1E3837132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33BBD-0913-9707-256A-217BA8B2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7DB93-1F36-7A7D-2417-BE1FCE13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BA519-2F2D-7C78-16D3-638E5490E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7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6663-0508-1B3C-68D4-703C1EC7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D0355-0A11-6627-6531-C4E6D3E07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FA2A5-9425-4287-E09E-F85B801E0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440FC-7EDC-F056-E414-C1598752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E30A7-21AB-B80D-8DF6-E143973A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D6746-6B2B-8263-038B-7A9AFEA2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93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E543-DC2C-4550-5BB9-29FC1EB8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48FB1-D303-9C89-D74E-95CF82994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71DCC-7964-FC05-FAD1-140C03AF1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DF28C-1388-CA80-ECCA-F7C24E93EC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C29829-146D-83C4-4895-16F3AD8B3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080526-5D2C-78E5-6264-4834D808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2A1EA5-974F-6CCA-6485-C1A32ED43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F94880-4308-20FD-8021-8386B66B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6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CD7E7-21B7-7504-B040-FFEB9D8A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C812E-8B2C-63C8-1A63-B84AB0F5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B8F26-4223-7045-FAD3-10CA4539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1B53F-5A94-FD14-B16B-D8FB2D4C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3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A9C36-F302-1BFE-C9D5-E2490AF25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E5F30-2B26-2679-B929-40E01008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05CE0-143F-4687-B70F-DA54B3DC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6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0D15-B51B-4F17-0638-39CA63F9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37E67-C9BA-A9D8-38DB-0ACB9EE8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F9FE3-78CB-98CF-6DB0-92CCDB097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C2DA2-083F-2B22-07E5-4D0E1E66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CA5E5-34AD-59C5-2E24-75C9A1BB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F4808-9A31-A5A0-28D7-8BE0837C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2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0E6C-D37A-C33F-A153-3BD619A9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BDB71-9E2C-95E2-309A-7509AF3B0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BBA3A-C51D-346F-0D82-90BD9943E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896F3-2FA0-9E03-B7CD-913E6C97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5CD06-A86F-4F6E-CF02-5C846138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E1318-A092-0065-D7A6-B57656929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87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A9E8D-05F6-8CE5-11AD-F3A7ADFCB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35B94-8DBC-3449-255A-3A161E618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74AC2-06F8-5907-9846-2174E6ABC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7F467-28E9-C452-EAB6-B19BF3A5D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5DFAA-0D3D-D2AF-8E50-76B6A5B8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4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229529-AC2B-9515-97EB-0CEA8939D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C4012-7C6F-0EC4-80CB-B0D093211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2D80C-A71E-5533-19EC-C459FDE9A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8B523-32ED-57F9-7561-7C7EEF78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FDAA7-0D35-E30D-4DBF-A752401D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9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8B7989-9878-3AD0-11D9-324BD287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A1DB9-BE20-97F2-5783-D417E0723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25ECB-C66D-D9CC-903F-B2AC427FE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44994-2686-D54F-8CE1-DECCB934BD8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76AA3-17E6-DBDE-20D3-E53741021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E4053-759B-4E69-EC05-DB9E82299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18FE3-9904-BE40-BF36-6F0DDBFE8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97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microsoft.com/office/2007/relationships/hdphoto" Target="../media/hdphoto1.wdp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19.pn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microsoft.com/office/2007/relationships/hdphoto" Target="../media/hdphoto5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4.wdp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7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6.wdp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microsoft.com/office/2007/relationships/hdphoto" Target="../media/hdphoto6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microsoft.com/office/2007/relationships/hdphoto" Target="../media/hdphoto6.wdp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6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3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gif"/><Relationship Id="rId5" Type="http://schemas.openxmlformats.org/officeDocument/2006/relationships/image" Target="../media/image39.png"/><Relationship Id="rId4" Type="http://schemas.openxmlformats.org/officeDocument/2006/relationships/customXml" Target="../ink/ink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13" Type="http://schemas.openxmlformats.org/officeDocument/2006/relationships/customXml" Target="../ink/ink7.xml"/><Relationship Id="rId18" Type="http://schemas.openxmlformats.org/officeDocument/2006/relationships/image" Target="../media/image44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410.png"/><Relationship Id="rId17" Type="http://schemas.openxmlformats.org/officeDocument/2006/relationships/customXml" Target="../ink/ink9.xml"/><Relationship Id="rId2" Type="http://schemas.openxmlformats.org/officeDocument/2006/relationships/image" Target="../media/image43.png"/><Relationship Id="rId16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40.png"/><Relationship Id="rId4" Type="http://schemas.openxmlformats.org/officeDocument/2006/relationships/image" Target="../media/image370.png"/><Relationship Id="rId9" Type="http://schemas.openxmlformats.org/officeDocument/2006/relationships/customXml" Target="../ink/ink5.xml"/><Relationship Id="rId1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gi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customXml" Target="../ink/ink15.xml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12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customXml" Target="../ink/ink13.xml"/><Relationship Id="rId1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customXml" Target="../ink/ink19.xml"/><Relationship Id="rId18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customXml" Target="../ink/ink16.xml"/><Relationship Id="rId12" Type="http://schemas.openxmlformats.org/officeDocument/2006/relationships/image" Target="../media/image62.png"/><Relationship Id="rId17" Type="http://schemas.openxmlformats.org/officeDocument/2006/relationships/customXml" Target="../ink/ink21.xml"/><Relationship Id="rId2" Type="http://schemas.openxmlformats.org/officeDocument/2006/relationships/image" Target="../media/image57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customXml" Target="../ink/ink18.xml"/><Relationship Id="rId5" Type="http://schemas.openxmlformats.org/officeDocument/2006/relationships/image" Target="../media/image56.png"/><Relationship Id="rId15" Type="http://schemas.openxmlformats.org/officeDocument/2006/relationships/customXml" Target="../ink/ink20.xml"/><Relationship Id="rId10" Type="http://schemas.openxmlformats.org/officeDocument/2006/relationships/image" Target="../media/image61.png"/><Relationship Id="rId4" Type="http://schemas.openxmlformats.org/officeDocument/2006/relationships/image" Target="../media/image58.png"/><Relationship Id="rId9" Type="http://schemas.openxmlformats.org/officeDocument/2006/relationships/customXml" Target="../ink/ink17.xml"/><Relationship Id="rId1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56.png"/><Relationship Id="rId7" Type="http://schemas.openxmlformats.org/officeDocument/2006/relationships/image" Target="../media/image6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5" Type="http://schemas.openxmlformats.org/officeDocument/2006/relationships/image" Target="../media/image66.png"/><Relationship Id="rId4" Type="http://schemas.openxmlformats.org/officeDocument/2006/relationships/customXml" Target="../ink/ink22.xml"/><Relationship Id="rId9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customXml" Target="../ink/ink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5" Type="http://schemas.openxmlformats.org/officeDocument/2006/relationships/image" Target="../media/image720.png"/><Relationship Id="rId4" Type="http://schemas.openxmlformats.org/officeDocument/2006/relationships/customXml" Target="../ink/ink2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customXml" Target="../ink/ink30.xml"/><Relationship Id="rId10" Type="http://schemas.openxmlformats.org/officeDocument/2006/relationships/image" Target="../media/image78.png"/><Relationship Id="rId4" Type="http://schemas.openxmlformats.org/officeDocument/2006/relationships/image" Target="../media/image75.png"/><Relationship Id="rId9" Type="http://schemas.openxmlformats.org/officeDocument/2006/relationships/customXml" Target="../ink/ink3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5.jpeg"/><Relationship Id="rId7" Type="http://schemas.openxmlformats.org/officeDocument/2006/relationships/image" Target="../media/image8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jpeg"/><Relationship Id="rId5" Type="http://schemas.openxmlformats.org/officeDocument/2006/relationships/image" Target="../media/image8.jpeg"/><Relationship Id="rId4" Type="http://schemas.openxmlformats.org/officeDocument/2006/relationships/image" Target="../media/image6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74.png"/><Relationship Id="rId7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9.jpe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6.jpeg"/><Relationship Id="rId4" Type="http://schemas.openxmlformats.org/officeDocument/2006/relationships/image" Target="../media/image3.png"/><Relationship Id="rId9" Type="http://schemas.openxmlformats.org/officeDocument/2006/relationships/image" Target="../media/image5.jpeg"/><Relationship Id="rId14" Type="http://schemas.openxmlformats.org/officeDocument/2006/relationships/image" Target="../media/image10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3/PhysRev.69.37" TargetMode="External"/><Relationship Id="rId3" Type="http://schemas.openxmlformats.org/officeDocument/2006/relationships/hyperlink" Target="https://doi.org/10.1103/PhysRev.70.474" TargetMode="External"/><Relationship Id="rId7" Type="http://schemas.openxmlformats.org/officeDocument/2006/relationships/hyperlink" Target="https://doi.org/10.1080/14786449708621095" TargetMode="External"/><Relationship Id="rId2" Type="http://schemas.openxmlformats.org/officeDocument/2006/relationships/hyperlink" Target="https://doi.org/10.48550/arXiv.2301.1134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48550/arXiv.2401.01389" TargetMode="External"/><Relationship Id="rId5" Type="http://schemas.openxmlformats.org/officeDocument/2006/relationships/hyperlink" Target="https://doi.org/10.1017/CBO9780511693205" TargetMode="External"/><Relationship Id="rId4" Type="http://schemas.openxmlformats.org/officeDocument/2006/relationships/hyperlink" Target="https://doi.org/10.1063/1.1719961" TargetMode="External"/><Relationship Id="rId9" Type="http://schemas.openxmlformats.org/officeDocument/2006/relationships/hyperlink" Target="https://doi.org/10.1103/PhysRev.53.318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76F0-0B42-9361-0E68-82DE39D4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DFE92-CFC7-F5A6-4926-BC0CEF734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10515600" cy="426308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400"/>
              <a:t>Fourier Transform-Based Nuclear Magnetic Resonance Spectroscopy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439A7C9-1AF4-AD72-57AC-E537B1617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6428" b="6428"/>
          <a:stretch/>
        </p:blipFill>
        <p:spPr bwMode="auto">
          <a:xfrm>
            <a:off x="3075441" y="207961"/>
            <a:ext cx="2815864" cy="184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EC7E36C3-0C7C-11A4-2218-D9FAC5DECC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3986555">
            <a:off x="10459495" y="2227565"/>
            <a:ext cx="791477" cy="274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lectromagnetic Waves - Labster">
            <a:extLst>
              <a:ext uri="{FF2B5EF4-FFF2-40B4-BE49-F238E27FC236}">
                <a16:creationId xmlns:a16="http://schemas.microsoft.com/office/drawing/2014/main" id="{0C8C948D-8786-E4F8-4BFD-75CDC1DB0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04" b="91597" l="9766" r="91797">
                        <a14:foregroundMark x1="76172" y1="91036" x2="72461" y2="91597"/>
                        <a14:foregroundMark x1="90039" y1="82073" x2="83594" y2="77591"/>
                        <a14:foregroundMark x1="83594" y1="77591" x2="83398" y2="76751"/>
                        <a14:foregroundMark x1="82031" y1="75070" x2="89258" y2="78431"/>
                        <a14:foregroundMark x1="89258" y1="78431" x2="91797" y2="82633"/>
                        <a14:foregroundMark x1="87500" y1="84594" x2="90430" y2="85154"/>
                        <a14:foregroundMark x1="89648" y1="78151" x2="90820" y2="83754"/>
                        <a14:foregroundMark x1="9766" y1="29132" x2="14063" y2="29692"/>
                        <a14:foregroundMark x1="21484" y1="18207" x2="54297" y2="18487"/>
                        <a14:foregroundMark x1="54297" y1="18487" x2="61719" y2="16807"/>
                        <a14:foregroundMark x1="61719" y1="16807" x2="26758" y2="15406"/>
                        <a14:foregroundMark x1="26758" y1="15406" x2="53516" y2="18768"/>
                        <a14:foregroundMark x1="53516" y1="18768" x2="45703" y2="16527"/>
                        <a14:foregroundMark x1="45703" y1="16527" x2="37891" y2="18207"/>
                        <a14:foregroundMark x1="37891" y1="18207" x2="30469" y2="15966"/>
                        <a14:foregroundMark x1="30469" y1="15966" x2="28906" y2="17087"/>
                        <a14:foregroundMark x1="59961" y1="10364" x2="61328" y2="21008"/>
                        <a14:foregroundMark x1="61328" y1="21008" x2="25586" y2="19048"/>
                        <a14:foregroundMark x1="25586" y1="19048" x2="32031" y2="12045"/>
                        <a14:foregroundMark x1="32031" y1="12045" x2="59766" y2="12605"/>
                        <a14:foregroundMark x1="59766" y1="12605" x2="50000" y2="22129"/>
                        <a14:foregroundMark x1="50000" y1="22129" x2="30859" y2="26331"/>
                        <a14:foregroundMark x1="30859" y1="26331" x2="29688" y2="14286"/>
                        <a14:foregroundMark x1="29688" y1="14286" x2="29688" y2="14286"/>
                        <a14:foregroundMark x1="22266" y1="14006" x2="47070" y2="17367"/>
                        <a14:foregroundMark x1="59375" y1="16807" x2="60352" y2="21849"/>
                        <a14:foregroundMark x1="62305" y1="11204" x2="62305" y2="16527"/>
                        <a14:foregroundMark x1="61328" y1="19888" x2="64258" y2="18207"/>
                        <a14:foregroundMark x1="58789" y1="34174" x2="67969" y2="34454"/>
                        <a14:foregroundMark x1="67969" y1="34454" x2="83594" y2="33333"/>
                        <a14:foregroundMark x1="57617" y1="36415" x2="77148" y2="36695"/>
                        <a14:foregroundMark x1="77148" y1="36695" x2="84570" y2="35854"/>
                        <a14:foregroundMark x1="84570" y1="35854" x2="77539" y2="32213"/>
                        <a14:foregroundMark x1="77539" y1="32213" x2="60156" y2="32213"/>
                        <a14:foregroundMark x1="60156" y1="32213" x2="67383" y2="36134"/>
                        <a14:foregroundMark x1="67383" y1="36134" x2="77344" y2="36695"/>
                        <a14:foregroundMark x1="68164" y1="39776" x2="68750" y2="50420"/>
                        <a14:foregroundMark x1="68750" y1="50420" x2="68750" y2="50420"/>
                        <a14:foregroundMark x1="68945" y1="50140" x2="72070" y2="48459"/>
                        <a14:foregroundMark x1="81445" y1="31373" x2="83008" y2="40336"/>
                        <a14:backgroundMark x1="85938" y1="70868" x2="93164" y2="72269"/>
                        <a14:backgroundMark x1="93164" y1="72269" x2="93359" y2="725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962"/>
            <a:ext cx="3200400" cy="223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close-up of a microscope&#10;&#10;AI-generated content may be incorrect.">
            <a:extLst>
              <a:ext uri="{FF2B5EF4-FFF2-40B4-BE49-F238E27FC236}">
                <a16:creationId xmlns:a16="http://schemas.microsoft.com/office/drawing/2014/main" id="{1C36FE1C-E42F-C5FD-7C6C-418B22324F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562" r="50502" b="13555"/>
          <a:stretch>
            <a:fillRect/>
          </a:stretch>
        </p:blipFill>
        <p:spPr>
          <a:xfrm rot="16200000">
            <a:off x="7916306" y="108236"/>
            <a:ext cx="2196712" cy="2153611"/>
          </a:xfrm>
          <a:prstGeom prst="rect">
            <a:avLst/>
          </a:prstGeom>
        </p:spPr>
      </p:pic>
      <p:pic>
        <p:nvPicPr>
          <p:cNvPr id="4" name="Picture 3" descr="A close-up of a microscope&#10;&#10;AI-generated content may be incorrect.">
            <a:extLst>
              <a:ext uri="{FF2B5EF4-FFF2-40B4-BE49-F238E27FC236}">
                <a16:creationId xmlns:a16="http://schemas.microsoft.com/office/drawing/2014/main" id="{D5332CE5-05F1-8CD5-CA03-8B550E2310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976" t="8766" r="1526" b="12686"/>
          <a:stretch>
            <a:fillRect/>
          </a:stretch>
        </p:blipFill>
        <p:spPr>
          <a:xfrm rot="5400000">
            <a:off x="10052236" y="125916"/>
            <a:ext cx="2178995" cy="2100533"/>
          </a:xfrm>
          <a:prstGeom prst="rect">
            <a:avLst/>
          </a:prstGeom>
        </p:spPr>
      </p:pic>
      <p:pic>
        <p:nvPicPr>
          <p:cNvPr id="5" name="Picture 4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39E06D56-72F4-F9DB-5C79-A0736D2713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09" y="4691312"/>
            <a:ext cx="1330859" cy="1996289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08E5B99-3C1A-43CB-AF10-A2750D9F7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530" y="4714573"/>
            <a:ext cx="1409809" cy="199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47614AB9-5522-0E07-08B0-B2A86B64F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4441501" y="4727706"/>
            <a:ext cx="1313348" cy="197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3EE7DEED-F45C-A7CF-DDFB-0AFEF7613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011" y="4729029"/>
            <a:ext cx="1389390" cy="196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4DB7BA73-A6A6-AC39-4F44-581243739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563" y="4714573"/>
            <a:ext cx="1409808" cy="199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D4626852-F91E-88AB-55B1-7BD45EA18C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6" r="25796" b="38345"/>
          <a:stretch>
            <a:fillRect/>
          </a:stretch>
        </p:blipFill>
        <p:spPr bwMode="auto">
          <a:xfrm>
            <a:off x="10699532" y="4729029"/>
            <a:ext cx="1401679" cy="196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Atomic nucleus - Wikipedia">
            <a:extLst>
              <a:ext uri="{FF2B5EF4-FFF2-40B4-BE49-F238E27FC236}">
                <a16:creationId xmlns:a16="http://schemas.microsoft.com/office/drawing/2014/main" id="{06ACD7FD-5468-8CB0-D973-F388F553A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02" y="3032567"/>
            <a:ext cx="1497698" cy="149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Espaço Reservado para Conteúdo 4" descr="Foto preta e branca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EF387327-7AC1-7CD0-B29B-97400744400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0330" y="205501"/>
            <a:ext cx="1845304" cy="184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658307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17003-E9D8-98A4-407E-E7CFD3E99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12" y="217226"/>
            <a:ext cx="11698176" cy="1067877"/>
          </a:xfrm>
        </p:spPr>
        <p:txBody>
          <a:bodyPr>
            <a:normAutofit/>
          </a:bodyPr>
          <a:lstStyle/>
          <a:p>
            <a:pPr algn="ctr"/>
            <a:r>
              <a:rPr lang="en-US" sz="660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8013-6B35-71DC-F3F5-AF9DA6EFA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2563"/>
            <a:ext cx="10515600" cy="17760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When working at the atomic scale, </a:t>
            </a:r>
          </a:p>
          <a:p>
            <a:pPr marL="0" indent="0" algn="ctr">
              <a:buNone/>
            </a:pPr>
            <a:r>
              <a:rPr lang="en-US" sz="5400" dirty="0"/>
              <a:t>observation is difficult</a:t>
            </a:r>
          </a:p>
        </p:txBody>
      </p:sp>
    </p:spTree>
    <p:extLst>
      <p:ext uri="{BB962C8B-B14F-4D97-AF65-F5344CB8AC3E}">
        <p14:creationId xmlns:p14="http://schemas.microsoft.com/office/powerpoint/2010/main" val="35003458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508E-A207-D01C-7965-B6A08EA2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D8A8D6D0-3AF6-97BC-F49E-DE0E8F1E5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273" y="995826"/>
            <a:ext cx="3441700" cy="1828800"/>
          </a:xfrm>
          <a:prstGeom prst="rect">
            <a:avLst/>
          </a:prstGeom>
        </p:spPr>
      </p:pic>
      <p:pic>
        <p:nvPicPr>
          <p:cNvPr id="13" name="Picture 12" descr="A chemical structure with black text&#10;&#10;AI-generated content may be incorrect.">
            <a:extLst>
              <a:ext uri="{FF2B5EF4-FFF2-40B4-BE49-F238E27FC236}">
                <a16:creationId xmlns:a16="http://schemas.microsoft.com/office/drawing/2014/main" id="{DFFCB87E-FBA8-B59F-7BE1-685DF1D5E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117" y="995826"/>
            <a:ext cx="3289300" cy="1968500"/>
          </a:xfrm>
          <a:prstGeom prst="rect">
            <a:avLst/>
          </a:prstGeom>
        </p:spPr>
      </p:pic>
      <p:pic>
        <p:nvPicPr>
          <p:cNvPr id="4" name="Picture 2" descr="AlCircleBiz - Product Details">
            <a:extLst>
              <a:ext uri="{FF2B5EF4-FFF2-40B4-BE49-F238E27FC236}">
                <a16:creationId xmlns:a16="http://schemas.microsoft.com/office/drawing/2014/main" id="{5CD0B129-01F7-9C9F-E62F-89822BE0C9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5" b="32366"/>
          <a:stretch>
            <a:fillRect/>
          </a:stretch>
        </p:blipFill>
        <p:spPr bwMode="auto">
          <a:xfrm>
            <a:off x="1085385" y="3774222"/>
            <a:ext cx="4199652" cy="274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D90E740-9147-0FF1-2754-DBC3ADB83CF0}"/>
              </a:ext>
            </a:extLst>
          </p:cNvPr>
          <p:cNvSpPr txBox="1">
            <a:spLocks/>
          </p:cNvSpPr>
          <p:nvPr/>
        </p:nvSpPr>
        <p:spPr>
          <a:xfrm>
            <a:off x="1001961" y="2964326"/>
            <a:ext cx="4366500" cy="823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Pseudoephedrine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445C4097-72B1-0B06-667B-A26044E08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6428" b="6428"/>
          <a:stretch/>
        </p:blipFill>
        <p:spPr bwMode="auto">
          <a:xfrm>
            <a:off x="6764807" y="3774222"/>
            <a:ext cx="4199652" cy="2744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0EB2128-6A8F-33F4-2493-F3B2BBD654F1}"/>
              </a:ext>
            </a:extLst>
          </p:cNvPr>
          <p:cNvSpPr txBox="1">
            <a:spLocks/>
          </p:cNvSpPr>
          <p:nvPr/>
        </p:nvSpPr>
        <p:spPr>
          <a:xfrm>
            <a:off x="6681383" y="2964326"/>
            <a:ext cx="4366500" cy="823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Methamphetamine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35B22-519F-4313-0D43-BBC21AFB1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869"/>
            <a:ext cx="10515600" cy="82330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5400" dirty="0"/>
              <a:t>Atomic Observation is Difficult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E2DB9B-4402-D44A-7583-1AFF492949D4}"/>
              </a:ext>
            </a:extLst>
          </p:cNvPr>
          <p:cNvSpPr txBox="1">
            <a:spLocks/>
          </p:cNvSpPr>
          <p:nvPr/>
        </p:nvSpPr>
        <p:spPr>
          <a:xfrm>
            <a:off x="3723717" y="2356877"/>
            <a:ext cx="4366500" cy="823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FF0000"/>
                </a:solidFill>
              </a:rPr>
              <a:t>Which is which?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1A8ECD-E841-A925-9F4B-16972A3658EF}"/>
              </a:ext>
            </a:extLst>
          </p:cNvPr>
          <p:cNvSpPr txBox="1"/>
          <p:nvPr/>
        </p:nvSpPr>
        <p:spPr>
          <a:xfrm>
            <a:off x="0" y="6564086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Image Credit: SCIE001-Unit 2-Introduction to Organic Chemistry, </a:t>
            </a:r>
            <a:r>
              <a:rPr lang="en-CA" b="1" dirty="0" err="1"/>
              <a:t>Alcirclebiz</a:t>
            </a:r>
            <a:r>
              <a:rPr lang="en-CA" b="1" dirty="0"/>
              <a:t>, Wikipedia </a:t>
            </a:r>
          </a:p>
        </p:txBody>
      </p:sp>
    </p:spTree>
    <p:extLst>
      <p:ext uri="{BB962C8B-B14F-4D97-AF65-F5344CB8AC3E}">
        <p14:creationId xmlns:p14="http://schemas.microsoft.com/office/powerpoint/2010/main" val="119876019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F4504-94FB-07B6-57B0-784E21884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BE9CA-2345-7C96-7853-60296D8CD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9007" y="1207411"/>
            <a:ext cx="1736410" cy="281706"/>
          </a:xfrm>
        </p:spPr>
        <p:txBody>
          <a:bodyPr anchor="ctr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5400"/>
              <a:t>HOW?</a:t>
            </a:r>
          </a:p>
        </p:txBody>
      </p:sp>
      <p:pic>
        <p:nvPicPr>
          <p:cNvPr id="11266" name="Picture 2" descr="High Resolution NMR Spectroscopy | UBC Chemistry">
            <a:extLst>
              <a:ext uri="{FF2B5EF4-FFF2-40B4-BE49-F238E27FC236}">
                <a16:creationId xmlns:a16="http://schemas.microsoft.com/office/drawing/2014/main" id="{489E5D35-6B34-42CB-30B9-59D28B2E8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78" y="0"/>
            <a:ext cx="10313043" cy="687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ubc-logo">
            <a:extLst>
              <a:ext uri="{FF2B5EF4-FFF2-40B4-BE49-F238E27FC236}">
                <a16:creationId xmlns:a16="http://schemas.microsoft.com/office/drawing/2014/main" id="{3E080A8A-55B2-9AE4-6FFA-D3BB7A94C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879" y="-292587"/>
            <a:ext cx="2644815" cy="264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D6977D-F714-3DAE-970C-221A910FE5D6}"/>
              </a:ext>
            </a:extLst>
          </p:cNvPr>
          <p:cNvSpPr txBox="1"/>
          <p:nvPr/>
        </p:nvSpPr>
        <p:spPr>
          <a:xfrm rot="20166225">
            <a:off x="1866760" y="2443049"/>
            <a:ext cx="11102947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23900" b="1" dirty="0">
                <a:solidFill>
                  <a:srgbClr val="FF0000"/>
                </a:solidFill>
                <a:latin typeface="Impact" panose="020B0806030902050204" pitchFamily="34" charset="0"/>
              </a:rPr>
              <a:t>How?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F7FBE-E95B-C4B9-0621-DB62D0D1B7D3}"/>
              </a:ext>
            </a:extLst>
          </p:cNvPr>
          <p:cNvSpPr txBox="1"/>
          <p:nvPr/>
        </p:nvSpPr>
        <p:spPr>
          <a:xfrm>
            <a:off x="5287124" y="32674"/>
            <a:ext cx="6738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b="1" dirty="0"/>
              <a:t>Image Credit: </a:t>
            </a:r>
          </a:p>
          <a:p>
            <a:pPr algn="ctr">
              <a:buNone/>
            </a:pPr>
            <a:r>
              <a:rPr lang="en-CA" b="1" dirty="0"/>
              <a:t>UBC High Resolution NMR Spectroscopy Facility</a:t>
            </a:r>
          </a:p>
        </p:txBody>
      </p:sp>
    </p:spTree>
    <p:extLst>
      <p:ext uri="{BB962C8B-B14F-4D97-AF65-F5344CB8AC3E}">
        <p14:creationId xmlns:p14="http://schemas.microsoft.com/office/powerpoint/2010/main" val="2440485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toms – Primary Science Online">
            <a:extLst>
              <a:ext uri="{FF2B5EF4-FFF2-40B4-BE49-F238E27FC236}">
                <a16:creationId xmlns:a16="http://schemas.microsoft.com/office/drawing/2014/main" id="{5A58D580-918B-2544-DC63-1E4BB4B7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418" y="1782501"/>
            <a:ext cx="6537163" cy="435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2034C1-DA7B-9994-DFAA-576BF06E6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869"/>
            <a:ext cx="10515600" cy="82330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5400" dirty="0"/>
              <a:t>Inside the atom!</a:t>
            </a:r>
          </a:p>
        </p:txBody>
      </p:sp>
      <p:pic>
        <p:nvPicPr>
          <p:cNvPr id="8" name="Picture 2" descr="Atomic nucleus - Wikipedia">
            <a:extLst>
              <a:ext uri="{FF2B5EF4-FFF2-40B4-BE49-F238E27FC236}">
                <a16:creationId xmlns:a16="http://schemas.microsoft.com/office/drawing/2014/main" id="{4F1BBD17-B00C-3B72-428C-9510B25A8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273" y="3429000"/>
            <a:ext cx="1266205" cy="1266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DE9CF5-BEED-0C8D-68E2-B4FD738BF40C}"/>
              </a:ext>
            </a:extLst>
          </p:cNvPr>
          <p:cNvSpPr txBox="1"/>
          <p:nvPr/>
        </p:nvSpPr>
        <p:spPr>
          <a:xfrm>
            <a:off x="0" y="6564086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Image Credit: Hobarts</a:t>
            </a:r>
          </a:p>
        </p:txBody>
      </p:sp>
    </p:spTree>
    <p:extLst>
      <p:ext uri="{BB962C8B-B14F-4D97-AF65-F5344CB8AC3E}">
        <p14:creationId xmlns:p14="http://schemas.microsoft.com/office/powerpoint/2010/main" val="171320239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FE12BC-939E-4E3E-4D4C-A46CDE270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17" y="80693"/>
            <a:ext cx="11586965" cy="1621107"/>
          </a:xfrm>
        </p:spPr>
        <p:txBody>
          <a:bodyPr/>
          <a:lstStyle/>
          <a:p>
            <a:pPr algn="ctr"/>
            <a:r>
              <a:rPr lang="en-US"/>
              <a:t>At the subatomic scale, </a:t>
            </a:r>
            <a:br>
              <a:rPr lang="en-US"/>
            </a:br>
            <a:r>
              <a:rPr lang="en-US"/>
              <a:t>nuclei behave like bar magnets </a:t>
            </a:r>
          </a:p>
        </p:txBody>
      </p:sp>
      <p:pic>
        <p:nvPicPr>
          <p:cNvPr id="6146" name="Picture 2" descr="Atomic nucleus - Wikipedia">
            <a:extLst>
              <a:ext uri="{FF2B5EF4-FFF2-40B4-BE49-F238E27FC236}">
                <a16:creationId xmlns:a16="http://schemas.microsoft.com/office/drawing/2014/main" id="{0B97C187-49B2-B2CF-FE12-08EC0584E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25" y="2210596"/>
            <a:ext cx="2585887" cy="258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D46CC4CE-71F7-55F5-BC96-8C32884C0002}"/>
              </a:ext>
            </a:extLst>
          </p:cNvPr>
          <p:cNvSpPr/>
          <p:nvPr/>
        </p:nvSpPr>
        <p:spPr>
          <a:xfrm>
            <a:off x="4319305" y="2710496"/>
            <a:ext cx="3578206" cy="1504596"/>
          </a:xfrm>
          <a:prstGeom prst="leftRightArrow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C4E2A9-E2C4-D3E7-DF1C-84F82FFEC919}"/>
              </a:ext>
            </a:extLst>
          </p:cNvPr>
          <p:cNvSpPr txBox="1">
            <a:spLocks/>
          </p:cNvSpPr>
          <p:nvPr/>
        </p:nvSpPr>
        <p:spPr>
          <a:xfrm>
            <a:off x="314925" y="4450838"/>
            <a:ext cx="11586965" cy="911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SPIN! “property”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0B118D-3EC1-62D7-D54C-B9AC371276C0}"/>
              </a:ext>
            </a:extLst>
          </p:cNvPr>
          <p:cNvSpPr txBox="1">
            <a:spLocks/>
          </p:cNvSpPr>
          <p:nvPr/>
        </p:nvSpPr>
        <p:spPr>
          <a:xfrm>
            <a:off x="314925" y="5581921"/>
            <a:ext cx="11586965" cy="9111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Nothing is actually spinning – it just looks that way</a:t>
            </a:r>
          </a:p>
        </p:txBody>
      </p:sp>
      <p:pic>
        <p:nvPicPr>
          <p:cNvPr id="3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04E5C29D-A43E-6521-9208-C6BC7F510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9231348" y="1770407"/>
            <a:ext cx="1034164" cy="3591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379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92AF0-72EA-B80A-E340-B058811A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9D4AF0-CE26-19FC-7EAB-42804916B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17" y="80693"/>
            <a:ext cx="11586965" cy="1621107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Properties of Magnets!</a:t>
            </a:r>
          </a:p>
        </p:txBody>
      </p:sp>
      <p:pic>
        <p:nvPicPr>
          <p:cNvPr id="2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94805236-4EFE-E8B9-EF70-2681B640A0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5427978" y="1656080"/>
            <a:ext cx="1336041" cy="464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374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A5F2E-14B7-D57A-AE14-AEA186C5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16E922-D980-100A-7142-4755AAA26515}"/>
              </a:ext>
            </a:extLst>
          </p:cNvPr>
          <p:cNvSpPr/>
          <p:nvPr/>
        </p:nvSpPr>
        <p:spPr>
          <a:xfrm>
            <a:off x="0" y="0"/>
            <a:ext cx="12192000" cy="175260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93434A-750E-270E-ED46-476495770598}"/>
              </a:ext>
            </a:extLst>
          </p:cNvPr>
          <p:cNvSpPr/>
          <p:nvPr/>
        </p:nvSpPr>
        <p:spPr>
          <a:xfrm>
            <a:off x="0" y="5105400"/>
            <a:ext cx="12192000" cy="1752600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6660AB-2D93-0B6F-5D71-7CBAD92DCD56}"/>
              </a:ext>
            </a:extLst>
          </p:cNvPr>
          <p:cNvSpPr txBox="1"/>
          <p:nvPr/>
        </p:nvSpPr>
        <p:spPr>
          <a:xfrm>
            <a:off x="1193799" y="2828835"/>
            <a:ext cx="9804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/>
              <a:t>Magnets align to magnetic fields</a:t>
            </a:r>
          </a:p>
          <a:p>
            <a:pPr algn="ctr"/>
            <a:r>
              <a:rPr lang="en-US" sz="3600"/>
              <a:t>(Magnets experience electromagnetic forces)</a:t>
            </a:r>
          </a:p>
        </p:txBody>
      </p:sp>
      <p:pic>
        <p:nvPicPr>
          <p:cNvPr id="2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6807E42D-A069-BF29-C0AF-6F5BC46D15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482599" y="2171962"/>
            <a:ext cx="723899" cy="251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860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6A2CB-3021-3C4E-4D7F-A50C79AB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4E8A5F3C-835C-808E-E401-23A4FD2473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482599" y="2171962"/>
            <a:ext cx="723899" cy="251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B28CC14-44B6-F1F3-CCE6-5647A0A51ADD}"/>
              </a:ext>
            </a:extLst>
          </p:cNvPr>
          <p:cNvSpPr/>
          <p:nvPr/>
        </p:nvSpPr>
        <p:spPr>
          <a:xfrm>
            <a:off x="0" y="0"/>
            <a:ext cx="12192000" cy="175260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6F2970-1557-1F11-86EA-0641C3ECC337}"/>
              </a:ext>
            </a:extLst>
          </p:cNvPr>
          <p:cNvSpPr/>
          <p:nvPr/>
        </p:nvSpPr>
        <p:spPr>
          <a:xfrm>
            <a:off x="0" y="5105400"/>
            <a:ext cx="12192000" cy="1752600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S</a:t>
            </a:r>
          </a:p>
        </p:txBody>
      </p:sp>
      <p:pic>
        <p:nvPicPr>
          <p:cNvPr id="9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8F82FF11-DBD4-4971-8CF8-3B8A68CE11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>
            <a:off x="11283947" y="2171962"/>
            <a:ext cx="723899" cy="251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9A8595-0E87-68C5-1D9B-723486B0F00E}"/>
              </a:ext>
            </a:extLst>
          </p:cNvPr>
          <p:cNvSpPr txBox="1"/>
          <p:nvPr/>
        </p:nvSpPr>
        <p:spPr>
          <a:xfrm>
            <a:off x="1549401" y="2828835"/>
            <a:ext cx="5219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More favorable</a:t>
            </a:r>
          </a:p>
          <a:p>
            <a:r>
              <a:rPr lang="en-US" sz="3600"/>
              <a:t>(Lower Energy State)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A0CF1-DDEE-2A99-8854-43070D6D529E}"/>
              </a:ext>
            </a:extLst>
          </p:cNvPr>
          <p:cNvSpPr txBox="1"/>
          <p:nvPr/>
        </p:nvSpPr>
        <p:spPr>
          <a:xfrm>
            <a:off x="6769099" y="2828835"/>
            <a:ext cx="52196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Less favorable</a:t>
            </a:r>
          </a:p>
          <a:p>
            <a:r>
              <a:rPr lang="en-US" sz="3600"/>
              <a:t>(Higher Energy State)</a:t>
            </a:r>
          </a:p>
        </p:txBody>
      </p:sp>
    </p:spTree>
    <p:extLst>
      <p:ext uri="{BB962C8B-B14F-4D97-AF65-F5344CB8AC3E}">
        <p14:creationId xmlns:p14="http://schemas.microsoft.com/office/powerpoint/2010/main" val="3826960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0D265F-609D-FFB0-433D-7AE1B301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448CA-7AF4-13E1-D1C1-0FEC1D4B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50" y="158497"/>
            <a:ext cx="11806062" cy="802772"/>
          </a:xfrm>
        </p:spPr>
        <p:txBody>
          <a:bodyPr>
            <a:normAutofit/>
          </a:bodyPr>
          <a:lstStyle/>
          <a:p>
            <a:r>
              <a:rPr lang="en-US" dirty="0"/>
              <a:t>The Stern-Gerlach Experiment – Discovery of Spin</a:t>
            </a:r>
          </a:p>
        </p:txBody>
      </p:sp>
      <p:pic>
        <p:nvPicPr>
          <p:cNvPr id="6" name="Picture 5" descr="A close-up of a microscope&#10;&#10;AI-generated content may be incorrect.">
            <a:extLst>
              <a:ext uri="{FF2B5EF4-FFF2-40B4-BE49-F238E27FC236}">
                <a16:creationId xmlns:a16="http://schemas.microsoft.com/office/drawing/2014/main" id="{70D4D18E-AC91-E137-073C-D2E264310F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76" t="869" r="1526" b="12686"/>
          <a:stretch>
            <a:fillRect/>
          </a:stretch>
        </p:blipFill>
        <p:spPr>
          <a:xfrm rot="5400000">
            <a:off x="8814705" y="1723045"/>
            <a:ext cx="3083797" cy="3271617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787A8E20-1700-E908-F738-52BD95890C25}"/>
              </a:ext>
            </a:extLst>
          </p:cNvPr>
          <p:cNvSpPr/>
          <p:nvPr/>
        </p:nvSpPr>
        <p:spPr>
          <a:xfrm>
            <a:off x="416460" y="3195872"/>
            <a:ext cx="5758004" cy="869136"/>
          </a:xfrm>
          <a:prstGeom prst="rightArrow">
            <a:avLst>
              <a:gd name="adj1" fmla="val 50000"/>
              <a:gd name="adj2" fmla="val 0"/>
            </a:avLst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453971-3BD5-DC22-2B93-F04C6534BE54}"/>
              </a:ext>
            </a:extLst>
          </p:cNvPr>
          <p:cNvSpPr txBox="1"/>
          <p:nvPr/>
        </p:nvSpPr>
        <p:spPr>
          <a:xfrm>
            <a:off x="8884215" y="4686104"/>
            <a:ext cx="2944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Glass Slide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03AAC-3363-6C05-9274-E5F2009AA4E8}"/>
              </a:ext>
            </a:extLst>
          </p:cNvPr>
          <p:cNvSpPr/>
          <p:nvPr/>
        </p:nvSpPr>
        <p:spPr>
          <a:xfrm>
            <a:off x="3721386" y="1405550"/>
            <a:ext cx="4499365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53ACD5-4F03-6B16-4DD3-1D0C0785A3E2}"/>
              </a:ext>
            </a:extLst>
          </p:cNvPr>
          <p:cNvSpPr/>
          <p:nvPr/>
        </p:nvSpPr>
        <p:spPr>
          <a:xfrm>
            <a:off x="3721386" y="4486893"/>
            <a:ext cx="4372412" cy="523220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FF4B9D-C04C-FE13-89AF-C33D3CD7D5A4}"/>
              </a:ext>
            </a:extLst>
          </p:cNvPr>
          <p:cNvSpPr txBox="1"/>
          <p:nvPr/>
        </p:nvSpPr>
        <p:spPr>
          <a:xfrm>
            <a:off x="3478452" y="5762100"/>
            <a:ext cx="5235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Inhomogeneous Magnetic Field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B8CE2951-F0D5-4631-D549-DE80313135C3}"/>
              </a:ext>
            </a:extLst>
          </p:cNvPr>
          <p:cNvSpPr/>
          <p:nvPr/>
        </p:nvSpPr>
        <p:spPr>
          <a:xfrm rot="21322753">
            <a:off x="6158525" y="3087297"/>
            <a:ext cx="3421071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0627AF80-F339-B674-8989-7CC02AF1C387}"/>
              </a:ext>
            </a:extLst>
          </p:cNvPr>
          <p:cNvSpPr/>
          <p:nvPr/>
        </p:nvSpPr>
        <p:spPr>
          <a:xfrm>
            <a:off x="6193709" y="3223715"/>
            <a:ext cx="3421071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D25B9-52E9-8A0E-BD9D-E9366577C33B}"/>
              </a:ext>
            </a:extLst>
          </p:cNvPr>
          <p:cNvSpPr txBox="1"/>
          <p:nvPr/>
        </p:nvSpPr>
        <p:spPr>
          <a:xfrm>
            <a:off x="130385" y="4169123"/>
            <a:ext cx="3521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Beam of Silver Atoms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F6CE089-E571-3FE3-D8D1-E594B2A63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45" y="987440"/>
            <a:ext cx="1422782" cy="196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D8E0903C-6BF3-8214-1436-5FCFC1C8D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666" y="957407"/>
            <a:ext cx="1422783" cy="201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Nobel Prize - Wikipedia">
            <a:extLst>
              <a:ext uri="{FF2B5EF4-FFF2-40B4-BE49-F238E27FC236}">
                <a16:creationId xmlns:a16="http://schemas.microsoft.com/office/drawing/2014/main" id="{6A527E8E-81DA-70C4-0A44-A07305ED6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240" y="5308919"/>
            <a:ext cx="1413195" cy="1390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AF2DEA32-470E-2263-8D7F-EF33262B41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5938907" y="2972069"/>
            <a:ext cx="419422" cy="1456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076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lectromagnetic Waves - Labster">
            <a:extLst>
              <a:ext uri="{FF2B5EF4-FFF2-40B4-BE49-F238E27FC236}">
                <a16:creationId xmlns:a16="http://schemas.microsoft.com/office/drawing/2014/main" id="{DD629E96-4763-EEA6-A242-A2A34939E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91597" l="9766" r="91797">
                        <a14:foregroundMark x1="76172" y1="91036" x2="72461" y2="91597"/>
                        <a14:foregroundMark x1="90039" y1="82073" x2="83594" y2="77591"/>
                        <a14:foregroundMark x1="83594" y1="77591" x2="83398" y2="76751"/>
                        <a14:foregroundMark x1="82031" y1="75070" x2="89258" y2="78431"/>
                        <a14:foregroundMark x1="89258" y1="78431" x2="91797" y2="82633"/>
                        <a14:foregroundMark x1="87500" y1="84594" x2="90430" y2="85154"/>
                        <a14:foregroundMark x1="89648" y1="78151" x2="90820" y2="83754"/>
                        <a14:foregroundMark x1="9766" y1="29132" x2="14063" y2="29692"/>
                        <a14:foregroundMark x1="21484" y1="18207" x2="54297" y2="18487"/>
                        <a14:foregroundMark x1="54297" y1="18487" x2="61719" y2="16807"/>
                        <a14:foregroundMark x1="61719" y1="16807" x2="26758" y2="15406"/>
                        <a14:foregroundMark x1="26758" y1="15406" x2="53516" y2="18768"/>
                        <a14:foregroundMark x1="53516" y1="18768" x2="45703" y2="16527"/>
                        <a14:foregroundMark x1="45703" y1="16527" x2="37891" y2="18207"/>
                        <a14:foregroundMark x1="37891" y1="18207" x2="30469" y2="15966"/>
                        <a14:foregroundMark x1="30469" y1="15966" x2="28906" y2="17087"/>
                        <a14:foregroundMark x1="59961" y1="10364" x2="61328" y2="21008"/>
                        <a14:foregroundMark x1="61328" y1="21008" x2="25586" y2="19048"/>
                        <a14:foregroundMark x1="25586" y1="19048" x2="32031" y2="12045"/>
                        <a14:foregroundMark x1="32031" y1="12045" x2="59766" y2="12605"/>
                        <a14:foregroundMark x1="59766" y1="12605" x2="50000" y2="22129"/>
                        <a14:foregroundMark x1="50000" y1="22129" x2="30859" y2="26331"/>
                        <a14:foregroundMark x1="30859" y1="26331" x2="29688" y2="14286"/>
                        <a14:foregroundMark x1="29688" y1="14286" x2="29688" y2="14286"/>
                        <a14:foregroundMark x1="22266" y1="14006" x2="47070" y2="17367"/>
                        <a14:foregroundMark x1="59375" y1="16807" x2="60352" y2="21849"/>
                        <a14:foregroundMark x1="62305" y1="11204" x2="62305" y2="16527"/>
                        <a14:foregroundMark x1="61328" y1="19888" x2="64258" y2="18207"/>
                        <a14:foregroundMark x1="58789" y1="34174" x2="67969" y2="34454"/>
                        <a14:foregroundMark x1="67969" y1="34454" x2="83594" y2="33333"/>
                        <a14:foregroundMark x1="57617" y1="36415" x2="77148" y2="36695"/>
                        <a14:foregroundMark x1="77148" y1="36695" x2="84570" y2="35854"/>
                        <a14:foregroundMark x1="84570" y1="35854" x2="77539" y2="32213"/>
                        <a14:foregroundMark x1="77539" y1="32213" x2="60156" y2="32213"/>
                        <a14:foregroundMark x1="60156" y1="32213" x2="67383" y2="36134"/>
                        <a14:foregroundMark x1="67383" y1="36134" x2="77344" y2="36695"/>
                        <a14:foregroundMark x1="68164" y1="39776" x2="68750" y2="50420"/>
                        <a14:foregroundMark x1="68750" y1="50420" x2="68750" y2="50420"/>
                        <a14:foregroundMark x1="68945" y1="50140" x2="72070" y2="48459"/>
                        <a14:foregroundMark x1="81445" y1="31373" x2="83008" y2="40336"/>
                        <a14:backgroundMark x1="85938" y1="70868" x2="93164" y2="72269"/>
                        <a14:backgroundMark x1="93164" y1="72269" x2="93359" y2="725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53" y="261782"/>
            <a:ext cx="6775540" cy="472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C2DC98-034B-B93A-4BAB-D057D928CE25}"/>
              </a:ext>
            </a:extLst>
          </p:cNvPr>
          <p:cNvSpPr txBox="1"/>
          <p:nvPr/>
        </p:nvSpPr>
        <p:spPr>
          <a:xfrm>
            <a:off x="331053" y="4823155"/>
            <a:ext cx="6184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Electromagnetic Radiation</a:t>
            </a:r>
          </a:p>
          <a:p>
            <a:pPr algn="ctr"/>
            <a:r>
              <a:rPr lang="en-US" sz="3600" dirty="0"/>
              <a:t>(Radio Frequency Wave)</a:t>
            </a:r>
          </a:p>
        </p:txBody>
      </p:sp>
      <p:pic>
        <p:nvPicPr>
          <p:cNvPr id="6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BFC205C7-C06B-ACD0-9DFA-D726A21B8F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7338232" y="3265950"/>
            <a:ext cx="778625" cy="270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CE1D74-A3BC-E521-73D4-84E5F14A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881" y="278480"/>
            <a:ext cx="5825925" cy="2577174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Absorbing </a:t>
            </a:r>
            <a:br>
              <a:rPr lang="en-US" sz="6000" dirty="0"/>
            </a:br>
            <a:r>
              <a:rPr lang="en-US" sz="6000" dirty="0"/>
              <a:t>RF waves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C936B-F053-5369-2159-AC8BE303CCAF}"/>
              </a:ext>
            </a:extLst>
          </p:cNvPr>
          <p:cNvSpPr txBox="1"/>
          <p:nvPr/>
        </p:nvSpPr>
        <p:spPr>
          <a:xfrm>
            <a:off x="322925" y="6433780"/>
            <a:ext cx="9101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dirty="0"/>
              <a:t>Figure reproduced without permission from </a:t>
            </a:r>
            <a:r>
              <a:rPr lang="en-CA" b="1" dirty="0" err="1"/>
              <a:t>Labster</a:t>
            </a:r>
            <a:r>
              <a:rPr lang="en-CA" b="1" dirty="0"/>
              <a:t> Theory - Electromagnetic Waves</a:t>
            </a:r>
          </a:p>
        </p:txBody>
      </p:sp>
    </p:spTree>
    <p:extLst>
      <p:ext uri="{BB962C8B-B14F-4D97-AF65-F5344CB8AC3E}">
        <p14:creationId xmlns:p14="http://schemas.microsoft.com/office/powerpoint/2010/main" val="1039766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4E63-052C-F464-7B47-A3AB78CD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9E0A6CE0-11B4-B667-2A94-CEFF65AB8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808" y="1824543"/>
            <a:ext cx="5670114" cy="316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799260-B261-4446-1CE0-0ED6623BBCBF}"/>
              </a:ext>
            </a:extLst>
          </p:cNvPr>
          <p:cNvSpPr txBox="1"/>
          <p:nvPr/>
        </p:nvSpPr>
        <p:spPr>
          <a:xfrm>
            <a:off x="3675684" y="4992572"/>
            <a:ext cx="6184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/>
              <a:t>Electromagnetic Radiation</a:t>
            </a:r>
          </a:p>
          <a:p>
            <a:pPr algn="ctr"/>
            <a:r>
              <a:rPr lang="en-US" sz="3600"/>
              <a:t>(Radio Frequency Wave)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010F7-E45B-B4DC-93ED-8FE34EA143E6}"/>
              </a:ext>
            </a:extLst>
          </p:cNvPr>
          <p:cNvSpPr txBox="1"/>
          <p:nvPr/>
        </p:nvSpPr>
        <p:spPr>
          <a:xfrm>
            <a:off x="2440163" y="394118"/>
            <a:ext cx="77018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Emitting RF Waves</a:t>
            </a:r>
          </a:p>
        </p:txBody>
      </p:sp>
      <p:pic>
        <p:nvPicPr>
          <p:cNvPr id="4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DD3CE7EE-C25E-EEC6-0BE1-11A9C042DC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1661538" y="1963572"/>
            <a:ext cx="778625" cy="270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1354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E7981-E036-06C2-D37B-75BFC4A39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aul McCartney reunited with famous bass stolen 50 years ago after online  campaign">
            <a:extLst>
              <a:ext uri="{FF2B5EF4-FFF2-40B4-BE49-F238E27FC236}">
                <a16:creationId xmlns:a16="http://schemas.microsoft.com/office/drawing/2014/main" id="{DBC9B9F1-57CF-1973-E053-EFFF08745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000" t="34514" r="100000" b="48543"/>
          <a:stretch>
            <a:fillRect/>
          </a:stretch>
        </p:blipFill>
        <p:spPr bwMode="auto">
          <a:xfrm>
            <a:off x="997545" y="2366974"/>
            <a:ext cx="546298" cy="1161926"/>
          </a:xfrm>
          <a:custGeom>
            <a:avLst/>
            <a:gdLst>
              <a:gd name="csX0" fmla="*/ 546298 w 546298"/>
              <a:gd name="csY0" fmla="*/ 0 h 1161926"/>
              <a:gd name="csX1" fmla="*/ 546298 w 546298"/>
              <a:gd name="csY1" fmla="*/ 1161926 h 1161926"/>
              <a:gd name="csX2" fmla="*/ 0 w 546298"/>
              <a:gd name="csY2" fmla="*/ 778640 h 1161926"/>
              <a:gd name="csX3" fmla="*/ 546298 w 546298"/>
              <a:gd name="csY3" fmla="*/ 0 h 11619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46298" h="1161926">
                <a:moveTo>
                  <a:pt x="546298" y="0"/>
                </a:moveTo>
                <a:lnTo>
                  <a:pt x="546298" y="1161926"/>
                </a:lnTo>
                <a:lnTo>
                  <a:pt x="0" y="778640"/>
                </a:lnTo>
                <a:lnTo>
                  <a:pt x="546298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Paul McCartney reunited with famous bass stolen 50 years ago after online  campaign">
            <a:extLst>
              <a:ext uri="{FF2B5EF4-FFF2-40B4-BE49-F238E27FC236}">
                <a16:creationId xmlns:a16="http://schemas.microsoft.com/office/drawing/2014/main" id="{6682B376-A772-A723-B28F-77C4DF9ACF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18" t="100000" r="33161" b="-9189"/>
          <a:stretch>
            <a:fillRect/>
          </a:stretch>
        </p:blipFill>
        <p:spPr bwMode="auto">
          <a:xfrm>
            <a:off x="6288817" y="6858001"/>
            <a:ext cx="1340269" cy="630149"/>
          </a:xfrm>
          <a:custGeom>
            <a:avLst/>
            <a:gdLst>
              <a:gd name="csX0" fmla="*/ 0 w 1340269"/>
              <a:gd name="csY0" fmla="*/ 0 h 630149"/>
              <a:gd name="csX1" fmla="*/ 1340269 w 1340269"/>
              <a:gd name="csY1" fmla="*/ 0 h 630149"/>
              <a:gd name="csX2" fmla="*/ 898153 w 1340269"/>
              <a:gd name="csY2" fmla="*/ 630149 h 630149"/>
              <a:gd name="csX3" fmla="*/ 0 w 1340269"/>
              <a:gd name="csY3" fmla="*/ 0 h 6301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40269" h="630149">
                <a:moveTo>
                  <a:pt x="0" y="0"/>
                </a:moveTo>
                <a:lnTo>
                  <a:pt x="1340269" y="0"/>
                </a:lnTo>
                <a:lnTo>
                  <a:pt x="898153" y="630149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ofner 500/1 Violin Bass">
            <a:extLst>
              <a:ext uri="{FF2B5EF4-FFF2-40B4-BE49-F238E27FC236}">
                <a16:creationId xmlns:a16="http://schemas.microsoft.com/office/drawing/2014/main" id="{79928FCE-DC39-E1A2-E6C0-1F428EACE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2457451" y="1500186"/>
            <a:ext cx="6858001" cy="385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216FD6-3C57-88BD-522F-8E79F1D5E6E1}"/>
              </a:ext>
            </a:extLst>
          </p:cNvPr>
          <p:cNvSpPr txBox="1"/>
          <p:nvPr/>
        </p:nvSpPr>
        <p:spPr>
          <a:xfrm>
            <a:off x="8132064" y="6102019"/>
            <a:ext cx="4059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Image Credit: </a:t>
            </a:r>
            <a:r>
              <a:rPr lang="en-US" dirty="0" err="1"/>
              <a:t>Honfer.com</a:t>
            </a:r>
            <a:r>
              <a:rPr lang="en-US" dirty="0"/>
              <a:t> </a:t>
            </a:r>
          </a:p>
          <a:p>
            <a:pPr algn="ctr"/>
            <a:r>
              <a:rPr lang="en-CA" b="1" dirty="0"/>
              <a:t>H500/1-61-0 - Violin Bass 'Cavern'</a:t>
            </a:r>
          </a:p>
        </p:txBody>
      </p:sp>
    </p:spTree>
    <p:extLst>
      <p:ext uri="{BB962C8B-B14F-4D97-AF65-F5344CB8AC3E}">
        <p14:creationId xmlns:p14="http://schemas.microsoft.com/office/powerpoint/2010/main" val="665094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ofner 500/1 Violin Bass">
            <a:extLst>
              <a:ext uri="{FF2B5EF4-FFF2-40B4-BE49-F238E27FC236}">
                <a16:creationId xmlns:a16="http://schemas.microsoft.com/office/drawing/2014/main" id="{46AEB39D-6B63-F215-6CD3-47B7196F1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520000" flipH="1">
            <a:off x="-14221385" y="-11063579"/>
            <a:ext cx="35701158" cy="2008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9AEBCF31-AE3A-CBD2-65ED-0424C5EEAB1B}"/>
              </a:ext>
            </a:extLst>
          </p:cNvPr>
          <p:cNvSpPr/>
          <p:nvPr/>
        </p:nvSpPr>
        <p:spPr>
          <a:xfrm rot="16200000">
            <a:off x="3668484" y="368736"/>
            <a:ext cx="791109" cy="547491"/>
          </a:xfrm>
          <a:prstGeom prst="rightArrow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82E145B-03A2-E7F8-74B6-396C27AA6318}"/>
              </a:ext>
            </a:extLst>
          </p:cNvPr>
          <p:cNvSpPr/>
          <p:nvPr/>
        </p:nvSpPr>
        <p:spPr>
          <a:xfrm rot="5400000">
            <a:off x="3442225" y="5803471"/>
            <a:ext cx="933661" cy="547490"/>
          </a:xfrm>
          <a:prstGeom prst="rightArrow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814B6C-E7A1-1DE0-324F-9C384F19C48C}"/>
              </a:ext>
            </a:extLst>
          </p:cNvPr>
          <p:cNvSpPr txBox="1"/>
          <p:nvPr/>
        </p:nvSpPr>
        <p:spPr>
          <a:xfrm>
            <a:off x="4337784" y="5775901"/>
            <a:ext cx="673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Restorative force of tension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4ED1A-5C52-E4BF-600F-9323A6749822}"/>
              </a:ext>
            </a:extLst>
          </p:cNvPr>
          <p:cNvSpPr txBox="1"/>
          <p:nvPr/>
        </p:nvSpPr>
        <p:spPr>
          <a:xfrm>
            <a:off x="4639157" y="503568"/>
            <a:ext cx="673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/>
              <a:t>Restorative force of tension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1F345-4CD5-636B-DD95-B19F10E44355}"/>
              </a:ext>
            </a:extLst>
          </p:cNvPr>
          <p:cNvSpPr txBox="1"/>
          <p:nvPr/>
        </p:nvSpPr>
        <p:spPr>
          <a:xfrm>
            <a:off x="4762877" y="1406825"/>
            <a:ext cx="67365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When plucked: Sound Waves</a:t>
            </a: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301394A0-4363-0CCA-B3AA-6EA19AFC5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858" y="2076022"/>
            <a:ext cx="4964447" cy="2773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FD7F04-0868-8982-A6F2-8F04C3D5A600}"/>
              </a:ext>
            </a:extLst>
          </p:cNvPr>
          <p:cNvSpPr txBox="1"/>
          <p:nvPr/>
        </p:nvSpPr>
        <p:spPr>
          <a:xfrm>
            <a:off x="6999890" y="4687978"/>
            <a:ext cx="4783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E - ~41.2 Hz</a:t>
            </a:r>
          </a:p>
        </p:txBody>
      </p:sp>
      <p:pic>
        <p:nvPicPr>
          <p:cNvPr id="16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AA2B6A74-EA02-B46A-BF7B-C36A882159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7333" b="92167" l="39167" r="62167">
                        <a14:foregroundMark x1="56500" y1="91667" x2="42834" y2="91385"/>
                        <a14:foregroundMark x1="43119" y1="91713" x2="47667" y2="92333"/>
                        <a14:foregroundMark x1="57167" y1="91333" x2="53000" y2="85000"/>
                        <a14:foregroundMark x1="57833" y1="7667" x2="47667" y2="7333"/>
                        <a14:foregroundMark x1="49833" y1="9500" x2="55333" y2="15667"/>
                        <a14:foregroundMark x1="56833" y1="51167" x2="55667" y2="36000"/>
                        <a14:foregroundMark x1="57167" y1="91333" x2="53667" y2="87167"/>
                        <a14:foregroundMark x1="53667" y1="87500" x2="50167" y2="85333"/>
                        <a14:foregroundMark x1="49500" y1="9500" x2="48333" y2="7667"/>
                        <a14:backgroundMark x1="42500" y1="91000" x2="41000" y2="91667"/>
                        <a14:backgroundMark x1="41000" y1="92000" x2="39333" y2="92667"/>
                        <a14:backgroundMark x1="39333" y1="93000" x2="41000" y2="92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3587780" y="1541727"/>
            <a:ext cx="952515" cy="330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814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E1CE-8779-AF17-CEF8-052B7A4D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3F154910-7ACD-305D-FA3F-04AC33F1F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0800000">
            <a:off x="4860809" y="2338577"/>
            <a:ext cx="778625" cy="270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E4BC23-F547-B874-2924-7B6D7BEE9C93}"/>
              </a:ext>
            </a:extLst>
          </p:cNvPr>
          <p:cNvSpPr/>
          <p:nvPr/>
        </p:nvSpPr>
        <p:spPr>
          <a:xfrm>
            <a:off x="0" y="0"/>
            <a:ext cx="12192000" cy="1457409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/>
              <a:t>         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6D25AA-EEF6-3B67-FF2F-DA46BB3ECB82}"/>
              </a:ext>
            </a:extLst>
          </p:cNvPr>
          <p:cNvSpPr/>
          <p:nvPr/>
        </p:nvSpPr>
        <p:spPr>
          <a:xfrm>
            <a:off x="0" y="5509926"/>
            <a:ext cx="12192000" cy="1348074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0"/>
              <a:t>          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5A4FC6-0FCC-2901-1A8B-94F5F5D54996}"/>
              </a:ext>
            </a:extLst>
          </p:cNvPr>
          <p:cNvSpPr txBox="1"/>
          <p:nvPr/>
        </p:nvSpPr>
        <p:spPr>
          <a:xfrm>
            <a:off x="4337784" y="5775901"/>
            <a:ext cx="673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Restorative force (Magnetic Field)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F1DD5-6B6A-B90C-6F16-ED7C518CB36A}"/>
              </a:ext>
            </a:extLst>
          </p:cNvPr>
          <p:cNvSpPr txBox="1"/>
          <p:nvPr/>
        </p:nvSpPr>
        <p:spPr>
          <a:xfrm>
            <a:off x="4639157" y="503568"/>
            <a:ext cx="673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Restorative force (Magnetic Field)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68B8AD-A3CF-AB36-732D-A7002E4EDF29}"/>
              </a:ext>
            </a:extLst>
          </p:cNvPr>
          <p:cNvSpPr txBox="1"/>
          <p:nvPr/>
        </p:nvSpPr>
        <p:spPr>
          <a:xfrm>
            <a:off x="6096000" y="1747966"/>
            <a:ext cx="67365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When Excited: Electromagnetic Waves</a:t>
            </a: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BB0D2FE8-6119-2F6B-0C3D-64D116746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183" y="3025292"/>
            <a:ext cx="3610765" cy="201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lectromagnetic Waves - Labster">
            <a:extLst>
              <a:ext uri="{FF2B5EF4-FFF2-40B4-BE49-F238E27FC236}">
                <a16:creationId xmlns:a16="http://schemas.microsoft.com/office/drawing/2014/main" id="{29575134-94E4-7B6B-6AC7-BDF3FCFD2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04" b="91597" l="9766" r="91797">
                        <a14:foregroundMark x1="76172" y1="91036" x2="72461" y2="91597"/>
                        <a14:foregroundMark x1="90039" y1="82073" x2="83594" y2="77591"/>
                        <a14:foregroundMark x1="83594" y1="77591" x2="83398" y2="76751"/>
                        <a14:foregroundMark x1="82031" y1="75070" x2="89258" y2="78431"/>
                        <a14:foregroundMark x1="89258" y1="78431" x2="91797" y2="82633"/>
                        <a14:foregroundMark x1="87500" y1="84594" x2="90430" y2="85154"/>
                        <a14:foregroundMark x1="89648" y1="78151" x2="90820" y2="83754"/>
                        <a14:foregroundMark x1="9766" y1="29132" x2="14063" y2="29692"/>
                        <a14:foregroundMark x1="21484" y1="18207" x2="54297" y2="18487"/>
                        <a14:foregroundMark x1="54297" y1="18487" x2="61719" y2="16807"/>
                        <a14:foregroundMark x1="61719" y1="16807" x2="26758" y2="15406"/>
                        <a14:foregroundMark x1="26758" y1="15406" x2="53516" y2="18768"/>
                        <a14:foregroundMark x1="53516" y1="18768" x2="45703" y2="16527"/>
                        <a14:foregroundMark x1="45703" y1="16527" x2="37891" y2="18207"/>
                        <a14:foregroundMark x1="37891" y1="18207" x2="30469" y2="15966"/>
                        <a14:foregroundMark x1="30469" y1="15966" x2="28906" y2="17087"/>
                        <a14:foregroundMark x1="59961" y1="10364" x2="61328" y2="21008"/>
                        <a14:foregroundMark x1="61328" y1="21008" x2="25586" y2="19048"/>
                        <a14:foregroundMark x1="25586" y1="19048" x2="32031" y2="12045"/>
                        <a14:foregroundMark x1="32031" y1="12045" x2="59766" y2="12605"/>
                        <a14:foregroundMark x1="59766" y1="12605" x2="50000" y2="22129"/>
                        <a14:foregroundMark x1="50000" y1="22129" x2="30859" y2="26331"/>
                        <a14:foregroundMark x1="30859" y1="26331" x2="29688" y2="14286"/>
                        <a14:foregroundMark x1="29688" y1="14286" x2="29688" y2="14286"/>
                        <a14:foregroundMark x1="22266" y1="14006" x2="47070" y2="17367"/>
                        <a14:foregroundMark x1="59375" y1="16807" x2="60352" y2="21849"/>
                        <a14:foregroundMark x1="62305" y1="11204" x2="62305" y2="16527"/>
                        <a14:foregroundMark x1="61328" y1="19888" x2="64258" y2="18207"/>
                        <a14:foregroundMark x1="58789" y1="34174" x2="67969" y2="34454"/>
                        <a14:foregroundMark x1="67969" y1="34454" x2="83594" y2="33333"/>
                        <a14:foregroundMark x1="57617" y1="36415" x2="77148" y2="36695"/>
                        <a14:foregroundMark x1="77148" y1="36695" x2="84570" y2="35854"/>
                        <a14:foregroundMark x1="84570" y1="35854" x2="77539" y2="32213"/>
                        <a14:foregroundMark x1="77539" y1="32213" x2="60156" y2="32213"/>
                        <a14:foregroundMark x1="60156" y1="32213" x2="67383" y2="36134"/>
                        <a14:foregroundMark x1="67383" y1="36134" x2="77344" y2="36695"/>
                        <a14:foregroundMark x1="68164" y1="39776" x2="68750" y2="50420"/>
                        <a14:foregroundMark x1="68750" y1="50420" x2="68750" y2="50420"/>
                        <a14:foregroundMark x1="68945" y1="50140" x2="72070" y2="48459"/>
                        <a14:foregroundMark x1="81445" y1="31373" x2="83008" y2="40336"/>
                        <a14:backgroundMark x1="85938" y1="70868" x2="93164" y2="72269"/>
                        <a14:backgroundMark x1="93164" y1="72269" x2="93359" y2="725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75" y="1810047"/>
            <a:ext cx="3492847" cy="243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14D8AD-1CD0-BA5B-488A-C94050D9B614}"/>
              </a:ext>
            </a:extLst>
          </p:cNvPr>
          <p:cNvSpPr txBox="1"/>
          <p:nvPr/>
        </p:nvSpPr>
        <p:spPr>
          <a:xfrm>
            <a:off x="-593924" y="4257883"/>
            <a:ext cx="618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/>
              <a:t>Radio Frequency Wave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2689EE-CF80-2540-A901-6706219A85D1}"/>
              </a:ext>
            </a:extLst>
          </p:cNvPr>
          <p:cNvSpPr txBox="1"/>
          <p:nvPr/>
        </p:nvSpPr>
        <p:spPr>
          <a:xfrm>
            <a:off x="9546910" y="3473053"/>
            <a:ext cx="30392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Larmor Frequency</a:t>
            </a:r>
          </a:p>
        </p:txBody>
      </p:sp>
    </p:spTree>
    <p:extLst>
      <p:ext uri="{BB962C8B-B14F-4D97-AF65-F5344CB8AC3E}">
        <p14:creationId xmlns:p14="http://schemas.microsoft.com/office/powerpoint/2010/main" val="583681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8" presetClass="emph" presetSubtype="0" repeatCount="indefinite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E526E-3B35-E1CF-E6E6-1C043F6D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747F74D-D161-A89B-50F9-B7A636A86E3F}"/>
              </a:ext>
            </a:extLst>
          </p:cNvPr>
          <p:cNvSpPr txBox="1"/>
          <p:nvPr/>
        </p:nvSpPr>
        <p:spPr>
          <a:xfrm>
            <a:off x="4337784" y="5775901"/>
            <a:ext cx="673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Restorative force (Magnetic Field)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4E1E19-497A-EFA3-4930-0DFDCCF000CC}"/>
              </a:ext>
            </a:extLst>
          </p:cNvPr>
          <p:cNvSpPr txBox="1"/>
          <p:nvPr/>
        </p:nvSpPr>
        <p:spPr>
          <a:xfrm>
            <a:off x="4639157" y="503568"/>
            <a:ext cx="673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Restorative force (Magnetic Field) </a:t>
            </a:r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49CA00DF-2B28-39BF-939C-8BAB9850A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9157" y="2499301"/>
            <a:ext cx="3610765" cy="2017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65B3F4A-6405-9890-AA27-00CB9E4B3612}"/>
              </a:ext>
            </a:extLst>
          </p:cNvPr>
          <p:cNvSpPr txBox="1"/>
          <p:nvPr/>
        </p:nvSpPr>
        <p:spPr>
          <a:xfrm>
            <a:off x="8566884" y="2947062"/>
            <a:ext cx="30392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Larmor Frequency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CD9BF3-119D-6508-C849-564BD7E7E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56" y="5067300"/>
            <a:ext cx="12013488" cy="157347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/>
              <a:t>Larmor depends on </a:t>
            </a:r>
          </a:p>
          <a:p>
            <a:pPr marL="0" indent="0" algn="ctr">
              <a:buNone/>
            </a:pPr>
            <a:r>
              <a:rPr lang="en-US" sz="4800"/>
              <a:t>field strength and element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1E152A-6E9B-8EAE-33D8-F4C0FAE00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12" y="217226"/>
            <a:ext cx="11698176" cy="15734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/>
              <a:t>String frequency depends on</a:t>
            </a:r>
            <a:br>
              <a:rPr lang="en-US" sz="5400"/>
            </a:br>
            <a:r>
              <a:rPr lang="en-US" sz="5400"/>
              <a:t> tension and thickness 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7AFC2D4-2D71-345F-6F4B-7DA86F5D1E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/>
          </a:blip>
          <a:srcRect l="23201" t="832" r="29619" b="-979"/>
          <a:stretch>
            <a:fillRect/>
          </a:stretch>
        </p:blipFill>
        <p:spPr bwMode="auto">
          <a:xfrm rot="19084099">
            <a:off x="1588332" y="580370"/>
            <a:ext cx="1166320" cy="43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2821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6CEF-5BB8-F613-CFE5-C3F3A238C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D688C6A-1754-556B-C21F-4A3482541A15}"/>
              </a:ext>
            </a:extLst>
          </p:cNvPr>
          <p:cNvSpPr txBox="1"/>
          <p:nvPr/>
        </p:nvSpPr>
        <p:spPr>
          <a:xfrm>
            <a:off x="4337784" y="5775901"/>
            <a:ext cx="673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Restorative force (Magnetic Field)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D843E-87ED-9C58-97DC-76CE97F4B812}"/>
              </a:ext>
            </a:extLst>
          </p:cNvPr>
          <p:cNvSpPr txBox="1"/>
          <p:nvPr/>
        </p:nvSpPr>
        <p:spPr>
          <a:xfrm>
            <a:off x="4639157" y="503568"/>
            <a:ext cx="6736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Restorative force (Magnetic Field)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C036B0-595D-FF16-FF9E-0848B59EF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56" y="5067300"/>
            <a:ext cx="12013488" cy="157347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/>
              <a:t>Larmor depends on </a:t>
            </a:r>
          </a:p>
          <a:p>
            <a:pPr marL="0" indent="0" algn="ctr">
              <a:buNone/>
            </a:pPr>
            <a:r>
              <a:rPr lang="en-US" sz="4800"/>
              <a:t>field strength and element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8CDB54-D7AE-BC4A-3013-B5C4794F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12" y="217226"/>
            <a:ext cx="11698176" cy="157347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/>
              <a:t>String frequency depends on</a:t>
            </a:r>
            <a:br>
              <a:rPr lang="en-US" sz="5400"/>
            </a:br>
            <a:r>
              <a:rPr lang="en-US" sz="5400"/>
              <a:t> tension and thickness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D17B5D-B47A-738A-E2AD-7888D86A1A76}"/>
              </a:ext>
            </a:extLst>
          </p:cNvPr>
          <p:cNvSpPr txBox="1"/>
          <p:nvPr/>
        </p:nvSpPr>
        <p:spPr>
          <a:xfrm>
            <a:off x="57720" y="2574651"/>
            <a:ext cx="4934607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9600" i="1"/>
              <a:t>ω = γ</a:t>
            </a:r>
            <a:r>
              <a:rPr lang="en-CA" sz="9600" i="1"/>
              <a:t>B</a:t>
            </a:r>
            <a:endParaRPr lang="en-US" sz="9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3CAA8-ACE5-A805-A93B-9E139E2B7626}"/>
              </a:ext>
            </a:extLst>
          </p:cNvPr>
          <p:cNvSpPr txBox="1"/>
          <p:nvPr/>
        </p:nvSpPr>
        <p:spPr>
          <a:xfrm>
            <a:off x="4824249" y="2167759"/>
            <a:ext cx="7367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i="1"/>
              <a:t>ω</a:t>
            </a:r>
            <a:r>
              <a:rPr lang="en-US" sz="3600" i="1"/>
              <a:t> – Frequency</a:t>
            </a:r>
          </a:p>
          <a:p>
            <a:r>
              <a:rPr lang="el-GR" sz="3600" i="1"/>
              <a:t>γ</a:t>
            </a:r>
            <a:r>
              <a:rPr lang="en-US" sz="3600" i="1"/>
              <a:t> – Gyromagnetic ratio </a:t>
            </a:r>
          </a:p>
          <a:p>
            <a:r>
              <a:rPr lang="en-US" sz="3600" i="1"/>
              <a:t>(Specific to each element/isotope)</a:t>
            </a:r>
          </a:p>
          <a:p>
            <a:r>
              <a:rPr lang="en-US" sz="3600" i="1"/>
              <a:t>B – Strength of magnetic field 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438448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DBEC-7156-E239-CB48-49C0C149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174ABC2F-BFD1-2438-B346-E202D2247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56" y="938729"/>
            <a:ext cx="1330859" cy="19962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11B34A1-787B-BDE4-32DA-49D6798D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50" y="158497"/>
            <a:ext cx="10515600" cy="802772"/>
          </a:xfrm>
        </p:spPr>
        <p:txBody>
          <a:bodyPr/>
          <a:lstStyle/>
          <a:p>
            <a:r>
              <a:rPr lang="en-US"/>
              <a:t>Isidor Rabi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33F8610-2789-0716-B9C4-6ED3A2F0EA28}"/>
              </a:ext>
            </a:extLst>
          </p:cNvPr>
          <p:cNvSpPr/>
          <p:nvPr/>
        </p:nvSpPr>
        <p:spPr>
          <a:xfrm>
            <a:off x="316871" y="3195872"/>
            <a:ext cx="3250194" cy="869136"/>
          </a:xfrm>
          <a:prstGeom prst="rightArrow">
            <a:avLst>
              <a:gd name="adj1" fmla="val 50000"/>
              <a:gd name="adj2" fmla="val 0"/>
            </a:avLst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1216A2-3FF8-AB1D-2299-85C3481D1BFB}"/>
              </a:ext>
            </a:extLst>
          </p:cNvPr>
          <p:cNvSpPr txBox="1"/>
          <p:nvPr/>
        </p:nvSpPr>
        <p:spPr>
          <a:xfrm>
            <a:off x="64809" y="4065008"/>
            <a:ext cx="2095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Beam of Lithium Atoms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CA350-27CB-96A7-3B5B-2457BB671B40}"/>
              </a:ext>
            </a:extLst>
          </p:cNvPr>
          <p:cNvSpPr txBox="1"/>
          <p:nvPr/>
        </p:nvSpPr>
        <p:spPr>
          <a:xfrm>
            <a:off x="9504938" y="5837587"/>
            <a:ext cx="2944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Point Detector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514524-F2BD-9CA8-2DAC-9217C5E56144}"/>
              </a:ext>
            </a:extLst>
          </p:cNvPr>
          <p:cNvSpPr/>
          <p:nvPr/>
        </p:nvSpPr>
        <p:spPr>
          <a:xfrm>
            <a:off x="2265359" y="1545940"/>
            <a:ext cx="2095751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93690-0F45-2B0C-2710-CC3D5D961C3B}"/>
              </a:ext>
            </a:extLst>
          </p:cNvPr>
          <p:cNvSpPr/>
          <p:nvPr/>
        </p:nvSpPr>
        <p:spPr>
          <a:xfrm>
            <a:off x="2294925" y="4292175"/>
            <a:ext cx="2036618" cy="635663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DFBAE-3776-0664-FFEA-C900F7EF372E}"/>
              </a:ext>
            </a:extLst>
          </p:cNvPr>
          <p:cNvSpPr txBox="1"/>
          <p:nvPr/>
        </p:nvSpPr>
        <p:spPr>
          <a:xfrm>
            <a:off x="1889347" y="5750895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Inhomogeneous </a:t>
            </a:r>
          </a:p>
          <a:p>
            <a:pPr algn="ctr"/>
            <a:r>
              <a:rPr lang="en-US" sz="2800"/>
              <a:t>Magnetic Field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AFE498-BF0A-6F6B-0DB6-0AA37DCC1CC8}"/>
              </a:ext>
            </a:extLst>
          </p:cNvPr>
          <p:cNvSpPr/>
          <p:nvPr/>
        </p:nvSpPr>
        <p:spPr>
          <a:xfrm>
            <a:off x="7117109" y="4292175"/>
            <a:ext cx="2095751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90B5C7-B685-F871-836F-76BDED122E28}"/>
              </a:ext>
            </a:extLst>
          </p:cNvPr>
          <p:cNvSpPr/>
          <p:nvPr/>
        </p:nvSpPr>
        <p:spPr>
          <a:xfrm>
            <a:off x="7117109" y="2256798"/>
            <a:ext cx="2036618" cy="635663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ACC1BC-1791-49F8-5047-3C0F4BAB8A47}"/>
              </a:ext>
            </a:extLst>
          </p:cNvPr>
          <p:cNvSpPr txBox="1"/>
          <p:nvPr/>
        </p:nvSpPr>
        <p:spPr>
          <a:xfrm>
            <a:off x="6887217" y="5745396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Inhomogeneous </a:t>
            </a:r>
          </a:p>
          <a:p>
            <a:pPr algn="ctr"/>
            <a:r>
              <a:rPr lang="en-US" sz="2800"/>
              <a:t>Magnetic Field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ABEE84-DC18-B4FA-F9CF-7FC3BF8FD498}"/>
              </a:ext>
            </a:extLst>
          </p:cNvPr>
          <p:cNvSpPr/>
          <p:nvPr/>
        </p:nvSpPr>
        <p:spPr>
          <a:xfrm>
            <a:off x="10891319" y="1564047"/>
            <a:ext cx="679010" cy="4061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64B446-8DEF-01D9-8086-65E7E7BDF43A}"/>
              </a:ext>
            </a:extLst>
          </p:cNvPr>
          <p:cNvSpPr/>
          <p:nvPr/>
        </p:nvSpPr>
        <p:spPr>
          <a:xfrm>
            <a:off x="10977326" y="3383449"/>
            <a:ext cx="506995" cy="49398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303CE571-3179-A0BC-2886-946B29085E9B}"/>
              </a:ext>
            </a:extLst>
          </p:cNvPr>
          <p:cNvSpPr/>
          <p:nvPr/>
        </p:nvSpPr>
        <p:spPr>
          <a:xfrm rot="21419040">
            <a:off x="3536527" y="3102436"/>
            <a:ext cx="4484772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64AB79FE-BC2C-7782-DF5D-2A5081B4F2FD}"/>
              </a:ext>
            </a:extLst>
          </p:cNvPr>
          <p:cNvSpPr/>
          <p:nvPr/>
        </p:nvSpPr>
        <p:spPr>
          <a:xfrm rot="167267">
            <a:off x="3576252" y="3292451"/>
            <a:ext cx="4474988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C59D490A-B521-98DE-A30C-CEFAAB5520E0}"/>
              </a:ext>
            </a:extLst>
          </p:cNvPr>
          <p:cNvSpPr/>
          <p:nvPr/>
        </p:nvSpPr>
        <p:spPr>
          <a:xfrm rot="341531">
            <a:off x="8054841" y="3034673"/>
            <a:ext cx="2813184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6B95B19E-5F30-3034-6F92-6686D298DE59}"/>
              </a:ext>
            </a:extLst>
          </p:cNvPr>
          <p:cNvSpPr/>
          <p:nvPr/>
        </p:nvSpPr>
        <p:spPr>
          <a:xfrm rot="21368973">
            <a:off x="8061401" y="3287189"/>
            <a:ext cx="2794636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686CE9-0184-BA5D-FFC8-C52EB65BFE30}"/>
              </a:ext>
            </a:extLst>
          </p:cNvPr>
          <p:cNvSpPr/>
          <p:nvPr/>
        </p:nvSpPr>
        <p:spPr>
          <a:xfrm>
            <a:off x="4691234" y="1590406"/>
            <a:ext cx="2095751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C7B316-A8A2-C572-A5C9-94ACADB9AA52}"/>
              </a:ext>
            </a:extLst>
          </p:cNvPr>
          <p:cNvSpPr/>
          <p:nvPr/>
        </p:nvSpPr>
        <p:spPr>
          <a:xfrm>
            <a:off x="4698494" y="4311583"/>
            <a:ext cx="2036618" cy="1337650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S</a:t>
            </a:r>
          </a:p>
        </p:txBody>
      </p:sp>
      <p:pic>
        <p:nvPicPr>
          <p:cNvPr id="24" name="Picture 6">
            <a:extLst>
              <a:ext uri="{FF2B5EF4-FFF2-40B4-BE49-F238E27FC236}">
                <a16:creationId xmlns:a16="http://schemas.microsoft.com/office/drawing/2014/main" id="{EDFE0467-1C2A-DF99-9279-F334C67B1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56580">
            <a:off x="5065750" y="1874655"/>
            <a:ext cx="3530561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71AA2C6-8480-4FDE-E540-2390E207F54B}"/>
              </a:ext>
            </a:extLst>
          </p:cNvPr>
          <p:cNvSpPr txBox="1"/>
          <p:nvPr/>
        </p:nvSpPr>
        <p:spPr>
          <a:xfrm>
            <a:off x="4361110" y="445581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Homogenous </a:t>
            </a:r>
          </a:p>
          <a:p>
            <a:pPr algn="ctr"/>
            <a:r>
              <a:rPr lang="en-US" sz="2800"/>
              <a:t>Magnetic Field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072E94-285B-4FBD-F37E-1B112227C614}"/>
              </a:ext>
            </a:extLst>
          </p:cNvPr>
          <p:cNvSpPr txBox="1"/>
          <p:nvPr/>
        </p:nvSpPr>
        <p:spPr>
          <a:xfrm>
            <a:off x="7237583" y="353816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Radio Frequency Waves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4F916-9D10-0CCD-073D-E4F48033241A}"/>
              </a:ext>
            </a:extLst>
          </p:cNvPr>
          <p:cNvSpPr txBox="1"/>
          <p:nvPr/>
        </p:nvSpPr>
        <p:spPr>
          <a:xfrm>
            <a:off x="52141" y="2980753"/>
            <a:ext cx="3934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Image Credit: Nobel Foundation archive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51955961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624F-223A-C1A9-0906-4250CFC7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A7527DCB-87BA-DBFC-1AFF-8D8A333CD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56" y="938729"/>
            <a:ext cx="1330859" cy="199628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06577C5-33F5-A982-8A24-C254BED3E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50" y="158497"/>
            <a:ext cx="10515600" cy="802772"/>
          </a:xfrm>
        </p:spPr>
        <p:txBody>
          <a:bodyPr/>
          <a:lstStyle/>
          <a:p>
            <a:r>
              <a:rPr lang="en-US" dirty="0"/>
              <a:t>Isidor Rabi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BCCF45B8-F7E9-CECD-B5D1-9462516C278A}"/>
              </a:ext>
            </a:extLst>
          </p:cNvPr>
          <p:cNvSpPr/>
          <p:nvPr/>
        </p:nvSpPr>
        <p:spPr>
          <a:xfrm>
            <a:off x="316871" y="3195872"/>
            <a:ext cx="3250194" cy="869136"/>
          </a:xfrm>
          <a:prstGeom prst="rightArrow">
            <a:avLst>
              <a:gd name="adj1" fmla="val 50000"/>
              <a:gd name="adj2" fmla="val 0"/>
            </a:avLst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5EEFA-32AF-B46E-AD06-963C59C19F27}"/>
              </a:ext>
            </a:extLst>
          </p:cNvPr>
          <p:cNvSpPr txBox="1"/>
          <p:nvPr/>
        </p:nvSpPr>
        <p:spPr>
          <a:xfrm>
            <a:off x="64809" y="4065008"/>
            <a:ext cx="20957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Beam of Lithium Atoms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BB446F-500A-5896-51EF-2425EF6EC803}"/>
              </a:ext>
            </a:extLst>
          </p:cNvPr>
          <p:cNvSpPr txBox="1"/>
          <p:nvPr/>
        </p:nvSpPr>
        <p:spPr>
          <a:xfrm>
            <a:off x="9504938" y="5837587"/>
            <a:ext cx="2944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Point Detector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E2647B-C988-00FD-64CF-7A7B477102AF}"/>
              </a:ext>
            </a:extLst>
          </p:cNvPr>
          <p:cNvSpPr/>
          <p:nvPr/>
        </p:nvSpPr>
        <p:spPr>
          <a:xfrm>
            <a:off x="2265359" y="1545940"/>
            <a:ext cx="2095751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49249F-83DE-2106-D513-8CBB30E263F6}"/>
              </a:ext>
            </a:extLst>
          </p:cNvPr>
          <p:cNvSpPr/>
          <p:nvPr/>
        </p:nvSpPr>
        <p:spPr>
          <a:xfrm>
            <a:off x="2294925" y="4292175"/>
            <a:ext cx="2036618" cy="635663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CBBC6F-003E-5C43-F6D6-A1FDDD8638A5}"/>
              </a:ext>
            </a:extLst>
          </p:cNvPr>
          <p:cNvSpPr txBox="1"/>
          <p:nvPr/>
        </p:nvSpPr>
        <p:spPr>
          <a:xfrm>
            <a:off x="1889347" y="5750895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Inhomogeneous </a:t>
            </a:r>
          </a:p>
          <a:p>
            <a:pPr algn="ctr"/>
            <a:r>
              <a:rPr lang="en-US" sz="2800"/>
              <a:t>Magnetic Field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2B6E83-2E85-20AD-1F57-0C74FFEBA90C}"/>
              </a:ext>
            </a:extLst>
          </p:cNvPr>
          <p:cNvSpPr/>
          <p:nvPr/>
        </p:nvSpPr>
        <p:spPr>
          <a:xfrm>
            <a:off x="7117109" y="4292175"/>
            <a:ext cx="2095751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B88F23-F71C-F92A-C87A-913F768D53B5}"/>
              </a:ext>
            </a:extLst>
          </p:cNvPr>
          <p:cNvSpPr/>
          <p:nvPr/>
        </p:nvSpPr>
        <p:spPr>
          <a:xfrm>
            <a:off x="7117109" y="2256798"/>
            <a:ext cx="2036618" cy="635663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B63D04-C565-C0C4-0E5F-F7D36A650304}"/>
              </a:ext>
            </a:extLst>
          </p:cNvPr>
          <p:cNvSpPr txBox="1"/>
          <p:nvPr/>
        </p:nvSpPr>
        <p:spPr>
          <a:xfrm>
            <a:off x="6887217" y="5745396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Inhomogeneous </a:t>
            </a:r>
          </a:p>
          <a:p>
            <a:pPr algn="ctr"/>
            <a:r>
              <a:rPr lang="en-US" sz="2800"/>
              <a:t>Magnetic Field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288398-3E82-C2B2-70A4-C23440B050AA}"/>
              </a:ext>
            </a:extLst>
          </p:cNvPr>
          <p:cNvSpPr/>
          <p:nvPr/>
        </p:nvSpPr>
        <p:spPr>
          <a:xfrm>
            <a:off x="10891319" y="1564047"/>
            <a:ext cx="679010" cy="4061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F3B0BD3-611A-2452-9D46-9D3CEBD15943}"/>
              </a:ext>
            </a:extLst>
          </p:cNvPr>
          <p:cNvSpPr/>
          <p:nvPr/>
        </p:nvSpPr>
        <p:spPr>
          <a:xfrm>
            <a:off x="10977326" y="3383449"/>
            <a:ext cx="506995" cy="49398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C12EE82C-B880-839D-0671-267FF3F10115}"/>
              </a:ext>
            </a:extLst>
          </p:cNvPr>
          <p:cNvSpPr/>
          <p:nvPr/>
        </p:nvSpPr>
        <p:spPr>
          <a:xfrm rot="21419040">
            <a:off x="3536527" y="3102436"/>
            <a:ext cx="4484772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A225806-257E-7687-B3B7-93E48D49AFC2}"/>
              </a:ext>
            </a:extLst>
          </p:cNvPr>
          <p:cNvSpPr/>
          <p:nvPr/>
        </p:nvSpPr>
        <p:spPr>
          <a:xfrm rot="167267">
            <a:off x="3576252" y="3292451"/>
            <a:ext cx="4474988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654A9E2D-4B84-08DC-2380-5E0A0D3730F6}"/>
              </a:ext>
            </a:extLst>
          </p:cNvPr>
          <p:cNvSpPr/>
          <p:nvPr/>
        </p:nvSpPr>
        <p:spPr>
          <a:xfrm rot="20490775">
            <a:off x="8004094" y="2643212"/>
            <a:ext cx="2813184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6EBBCE68-9C25-E68A-C799-B562E0DAA2A6}"/>
              </a:ext>
            </a:extLst>
          </p:cNvPr>
          <p:cNvSpPr/>
          <p:nvPr/>
        </p:nvSpPr>
        <p:spPr>
          <a:xfrm rot="20657836">
            <a:off x="7923562" y="3148509"/>
            <a:ext cx="2794636" cy="851685"/>
          </a:xfrm>
          <a:prstGeom prst="rightArrow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9A7667-8399-5266-E74D-A83800CFFCB0}"/>
              </a:ext>
            </a:extLst>
          </p:cNvPr>
          <p:cNvSpPr/>
          <p:nvPr/>
        </p:nvSpPr>
        <p:spPr>
          <a:xfrm>
            <a:off x="4691234" y="1590406"/>
            <a:ext cx="2095751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BBFC98-F39E-E438-88BD-8DC129012D56}"/>
              </a:ext>
            </a:extLst>
          </p:cNvPr>
          <p:cNvSpPr/>
          <p:nvPr/>
        </p:nvSpPr>
        <p:spPr>
          <a:xfrm>
            <a:off x="4698494" y="4311583"/>
            <a:ext cx="2036618" cy="1337650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S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7420CE1D-ACD7-F1E4-C25F-06FF869F9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756580">
            <a:off x="5065750" y="1874655"/>
            <a:ext cx="3530561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373DCD-91CC-FE06-2C3C-B0FB3C911360}"/>
              </a:ext>
            </a:extLst>
          </p:cNvPr>
          <p:cNvSpPr txBox="1"/>
          <p:nvPr/>
        </p:nvSpPr>
        <p:spPr>
          <a:xfrm>
            <a:off x="4361110" y="445581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Homogenous </a:t>
            </a:r>
          </a:p>
          <a:p>
            <a:pPr algn="ctr"/>
            <a:r>
              <a:rPr lang="en-US" sz="2800"/>
              <a:t>Magnetic Field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2E0D95-5512-5234-1A42-2D1B565D40CE}"/>
              </a:ext>
            </a:extLst>
          </p:cNvPr>
          <p:cNvSpPr txBox="1"/>
          <p:nvPr/>
        </p:nvSpPr>
        <p:spPr>
          <a:xfrm>
            <a:off x="7237583" y="353816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Radio Frequency Waves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8AD6C0-ED23-754D-BE56-596C91C5F693}"/>
              </a:ext>
            </a:extLst>
          </p:cNvPr>
          <p:cNvSpPr txBox="1"/>
          <p:nvPr/>
        </p:nvSpPr>
        <p:spPr>
          <a:xfrm>
            <a:off x="52141" y="2980753"/>
            <a:ext cx="3934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Image Credit: Nobel Foundation archive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41550976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572E4-1019-E5C1-093F-D0ED7767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F053D5C-8C4F-FBEF-96BF-9925107C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49" y="158497"/>
            <a:ext cx="11791385" cy="802772"/>
          </a:xfrm>
        </p:spPr>
        <p:txBody>
          <a:bodyPr>
            <a:noAutofit/>
          </a:bodyPr>
          <a:lstStyle/>
          <a:p>
            <a:pPr algn="ctr"/>
            <a:r>
              <a:rPr lang="en-US" sz="6000" dirty="0"/>
              <a:t>First NMR Spectrograph</a:t>
            </a:r>
          </a:p>
        </p:txBody>
      </p:sp>
      <p:pic>
        <p:nvPicPr>
          <p:cNvPr id="5122" name="Picture 2" descr="Nobel Prize - Wikipedia">
            <a:extLst>
              <a:ext uri="{FF2B5EF4-FFF2-40B4-BE49-F238E27FC236}">
                <a16:creationId xmlns:a16="http://schemas.microsoft.com/office/drawing/2014/main" id="{81C949CC-B0C1-B31D-9B9E-F2DD8502C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715" y="5017618"/>
            <a:ext cx="1739019" cy="171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diagram of a magnet current&#10;&#10;AI-generated content may be incorrect.">
            <a:extLst>
              <a:ext uri="{FF2B5EF4-FFF2-40B4-BE49-F238E27FC236}">
                <a16:creationId xmlns:a16="http://schemas.microsoft.com/office/drawing/2014/main" id="{8FE581F2-51A4-0605-1436-06D4B6202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33" y="1068612"/>
            <a:ext cx="5074911" cy="45522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E6C1EF-8E06-B347-D9E2-3C379F801CD6}"/>
              </a:ext>
            </a:extLst>
          </p:cNvPr>
          <p:cNvSpPr/>
          <p:nvPr/>
        </p:nvSpPr>
        <p:spPr>
          <a:xfrm>
            <a:off x="388189" y="1398488"/>
            <a:ext cx="679010" cy="4061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49E4B28-A6C2-103D-0349-CD17CFEE3D64}"/>
              </a:ext>
            </a:extLst>
          </p:cNvPr>
          <p:cNvSpPr/>
          <p:nvPr/>
        </p:nvSpPr>
        <p:spPr>
          <a:xfrm>
            <a:off x="474196" y="3217890"/>
            <a:ext cx="506995" cy="49398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E512E4-1F1F-AA31-57E4-7A84E1B5E819}"/>
              </a:ext>
            </a:extLst>
          </p:cNvPr>
          <p:cNvSpPr/>
          <p:nvPr/>
        </p:nvSpPr>
        <p:spPr>
          <a:xfrm>
            <a:off x="1859752" y="5620903"/>
            <a:ext cx="1739020" cy="107860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2E552-F9C4-D0E8-6269-5F3AC5236B0E}"/>
              </a:ext>
            </a:extLst>
          </p:cNvPr>
          <p:cNvSpPr/>
          <p:nvPr/>
        </p:nvSpPr>
        <p:spPr>
          <a:xfrm>
            <a:off x="4005424" y="5615295"/>
            <a:ext cx="1739020" cy="1089817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B73198-6205-67C4-95BF-4F118202C05C}"/>
              </a:ext>
            </a:extLst>
          </p:cNvPr>
          <p:cNvSpPr txBox="1"/>
          <p:nvPr/>
        </p:nvSpPr>
        <p:spPr>
          <a:xfrm>
            <a:off x="6737660" y="2390650"/>
            <a:ext cx="4271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Constant Radio Waves</a:t>
            </a:r>
          </a:p>
        </p:txBody>
      </p:sp>
      <p:pic>
        <p:nvPicPr>
          <p:cNvPr id="15" name="Picture 6">
            <a:extLst>
              <a:ext uri="{FF2B5EF4-FFF2-40B4-BE49-F238E27FC236}">
                <a16:creationId xmlns:a16="http://schemas.microsoft.com/office/drawing/2014/main" id="{12C3D51B-873E-8AE7-69FA-D92929D59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108056" y="1158919"/>
            <a:ext cx="3530561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0BEA5E-F592-6792-1423-48EF6E240B86}"/>
              </a:ext>
            </a:extLst>
          </p:cNvPr>
          <p:cNvSpPr txBox="1"/>
          <p:nvPr/>
        </p:nvSpPr>
        <p:spPr>
          <a:xfrm>
            <a:off x="6882053" y="2951238"/>
            <a:ext cx="41269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l-GR" sz="6600" i="1"/>
              <a:t>ω = γ</a:t>
            </a:r>
            <a:r>
              <a:rPr lang="en-CA" sz="6600" i="1"/>
              <a:t>B</a:t>
            </a:r>
            <a:endParaRPr lang="en-US" sz="66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645053-535B-9E4F-B7A3-FA313D3C65EB}"/>
              </a:ext>
            </a:extLst>
          </p:cNvPr>
          <p:cNvSpPr txBox="1"/>
          <p:nvPr/>
        </p:nvSpPr>
        <p:spPr>
          <a:xfrm>
            <a:off x="6331244" y="3842945"/>
            <a:ext cx="59833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Frequency = </a:t>
            </a:r>
          </a:p>
          <a:p>
            <a:pPr algn="ctr"/>
            <a:r>
              <a:rPr lang="en-US" sz="2800"/>
              <a:t>Gyromagnetic Ratio x Magnetic Field</a:t>
            </a:r>
          </a:p>
        </p:txBody>
      </p:sp>
      <p:sp>
        <p:nvSpPr>
          <p:cNvPr id="4" name="Donut 3">
            <a:extLst>
              <a:ext uri="{FF2B5EF4-FFF2-40B4-BE49-F238E27FC236}">
                <a16:creationId xmlns:a16="http://schemas.microsoft.com/office/drawing/2014/main" id="{95520B3B-EA3C-E3DF-84B4-CF0EA919B1F7}"/>
              </a:ext>
            </a:extLst>
          </p:cNvPr>
          <p:cNvSpPr/>
          <p:nvPr/>
        </p:nvSpPr>
        <p:spPr>
          <a:xfrm>
            <a:off x="3130826" y="2928971"/>
            <a:ext cx="2047461" cy="2040929"/>
          </a:xfrm>
          <a:prstGeom prst="donut">
            <a:avLst>
              <a:gd name="adj" fmla="val 79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19287-A2C8-E4FC-A8B9-C877352050FC}"/>
              </a:ext>
            </a:extLst>
          </p:cNvPr>
          <p:cNvSpPr txBox="1"/>
          <p:nvPr/>
        </p:nvSpPr>
        <p:spPr>
          <a:xfrm>
            <a:off x="5931408" y="5829207"/>
            <a:ext cx="62605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New Method of Measuring Nuclear Magnetic Moments </a:t>
            </a:r>
          </a:p>
          <a:p>
            <a:r>
              <a:rPr lang="en-CA" dirty="0"/>
              <a:t>Rabi</a:t>
            </a:r>
            <a:r>
              <a:rPr lang="en-CA" sz="1800" dirty="0"/>
              <a:t>, I. I., Zacharias, J. R., Millman, S., &amp; Kusch, P.</a:t>
            </a:r>
          </a:p>
          <a:p>
            <a:r>
              <a:rPr lang="en-CA" dirty="0"/>
              <a:t>Reproduced without permission.</a:t>
            </a:r>
            <a:r>
              <a:rPr lang="en-CA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098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4D5F-6EBF-1198-7069-673B8966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551CEFC-D6DA-2BFF-847C-B38EC0AC7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50" y="78985"/>
            <a:ext cx="10515600" cy="802772"/>
          </a:xfrm>
        </p:spPr>
        <p:txBody>
          <a:bodyPr>
            <a:normAutofit/>
          </a:bodyPr>
          <a:lstStyle/>
          <a:p>
            <a:r>
              <a:rPr lang="en-US"/>
              <a:t>Edward Mills Purcell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FC355A-EE3F-B5B0-223C-449630F7F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13" y="802522"/>
            <a:ext cx="15875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337E65-B5B6-9A41-8DD4-441A751252F1}"/>
              </a:ext>
            </a:extLst>
          </p:cNvPr>
          <p:cNvSpPr/>
          <p:nvPr/>
        </p:nvSpPr>
        <p:spPr>
          <a:xfrm>
            <a:off x="5595694" y="1405984"/>
            <a:ext cx="3011593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54F2A6-7DF7-DE55-112A-97A26F874984}"/>
              </a:ext>
            </a:extLst>
          </p:cNvPr>
          <p:cNvSpPr/>
          <p:nvPr/>
        </p:nvSpPr>
        <p:spPr>
          <a:xfrm>
            <a:off x="5654826" y="5080287"/>
            <a:ext cx="2926619" cy="1337650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S</a:t>
            </a:r>
          </a:p>
        </p:txBody>
      </p:sp>
      <p:pic>
        <p:nvPicPr>
          <p:cNvPr id="27" name="Picture 6">
            <a:extLst>
              <a:ext uri="{FF2B5EF4-FFF2-40B4-BE49-F238E27FC236}">
                <a16:creationId xmlns:a16="http://schemas.microsoft.com/office/drawing/2014/main" id="{A9892C27-6EE3-805D-2C2C-EBC5324FD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916871" y="3122757"/>
            <a:ext cx="3530561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E936F63-344E-B5AC-1F3C-800E01D9EE53}"/>
              </a:ext>
            </a:extLst>
          </p:cNvPr>
          <p:cNvSpPr/>
          <p:nvPr/>
        </p:nvSpPr>
        <p:spPr>
          <a:xfrm>
            <a:off x="5595694" y="3238288"/>
            <a:ext cx="3011593" cy="1337650"/>
          </a:xfrm>
          <a:prstGeom prst="rect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Paraffin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Wax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30D966-368A-4D9C-E265-A58A0024020D}"/>
              </a:ext>
            </a:extLst>
          </p:cNvPr>
          <p:cNvSpPr txBox="1"/>
          <p:nvPr/>
        </p:nvSpPr>
        <p:spPr>
          <a:xfrm>
            <a:off x="2066287" y="4614608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Radio Frequency Waves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44E073-12D0-628E-71DD-22087E7AFFA7}"/>
              </a:ext>
            </a:extLst>
          </p:cNvPr>
          <p:cNvSpPr/>
          <p:nvPr/>
        </p:nvSpPr>
        <p:spPr>
          <a:xfrm>
            <a:off x="8028680" y="3429000"/>
            <a:ext cx="414788" cy="992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ADF457-9CB6-730F-2AFE-6D6E1C270EE4}"/>
              </a:ext>
            </a:extLst>
          </p:cNvPr>
          <p:cNvSpPr txBox="1"/>
          <p:nvPr/>
        </p:nvSpPr>
        <p:spPr>
          <a:xfrm>
            <a:off x="5694248" y="375750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Homogenous </a:t>
            </a:r>
          </a:p>
          <a:p>
            <a:pPr algn="ctr"/>
            <a:r>
              <a:rPr lang="en-US" sz="2800"/>
              <a:t>Magnetic Field</a:t>
            </a:r>
          </a:p>
        </p:txBody>
      </p:sp>
      <p:pic>
        <p:nvPicPr>
          <p:cNvPr id="35" name="Picture 2" descr="Nobel Prize - Wikipedia">
            <a:extLst>
              <a:ext uri="{FF2B5EF4-FFF2-40B4-BE49-F238E27FC236}">
                <a16:creationId xmlns:a16="http://schemas.microsoft.com/office/drawing/2014/main" id="{22C001D6-2CEC-A6CA-E6C7-89E1B44F3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504" y="5092242"/>
            <a:ext cx="1739019" cy="171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287CD29E-32FD-F15B-FC8C-640AF6937BCA}"/>
              </a:ext>
            </a:extLst>
          </p:cNvPr>
          <p:cNvSpPr txBox="1">
            <a:spLocks/>
          </p:cNvSpPr>
          <p:nvPr/>
        </p:nvSpPr>
        <p:spPr>
          <a:xfrm>
            <a:off x="0" y="5932160"/>
            <a:ext cx="10515600" cy="802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Felix Bloch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B2F1ED4-6A44-9357-8AF9-8E389E72F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60" y="3927638"/>
            <a:ext cx="1389390" cy="196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EB338BE-68D3-3023-C616-48F5ECF81011}"/>
              </a:ext>
            </a:extLst>
          </p:cNvPr>
          <p:cNvSpPr txBox="1"/>
          <p:nvPr/>
        </p:nvSpPr>
        <p:spPr>
          <a:xfrm>
            <a:off x="8443468" y="3727247"/>
            <a:ext cx="2847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Radio Detector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5C7682-CC26-F2BA-0B63-6F83DA1EF149}"/>
              </a:ext>
            </a:extLst>
          </p:cNvPr>
          <p:cNvSpPr txBox="1"/>
          <p:nvPr/>
        </p:nvSpPr>
        <p:spPr>
          <a:xfrm>
            <a:off x="0" y="6562951"/>
            <a:ext cx="3934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Image Credit: Nobel Foundation archive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44C71-635D-065D-8241-7261C7D9CF8B}"/>
              </a:ext>
            </a:extLst>
          </p:cNvPr>
          <p:cNvSpPr txBox="1"/>
          <p:nvPr/>
        </p:nvSpPr>
        <p:spPr>
          <a:xfrm>
            <a:off x="0" y="3062267"/>
            <a:ext cx="3934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Image Credit: </a:t>
            </a:r>
          </a:p>
          <a:p>
            <a:r>
              <a:rPr lang="en-CA" sz="1400" dirty="0"/>
              <a:t>Nobel Foundation archive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7270400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86030-94BE-82A0-3F2B-2A42EAE5D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CBECE74-ABD0-80E0-884C-78585E62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50" y="78985"/>
            <a:ext cx="10515600" cy="802772"/>
          </a:xfrm>
        </p:spPr>
        <p:txBody>
          <a:bodyPr>
            <a:normAutofit/>
          </a:bodyPr>
          <a:lstStyle/>
          <a:p>
            <a:r>
              <a:rPr lang="en-CA"/>
              <a:t>Richard Ernst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11A46E-EB74-FCD1-7D66-CB6276F5DBDE}"/>
              </a:ext>
            </a:extLst>
          </p:cNvPr>
          <p:cNvSpPr/>
          <p:nvPr/>
        </p:nvSpPr>
        <p:spPr>
          <a:xfrm>
            <a:off x="5595694" y="1405984"/>
            <a:ext cx="3011593" cy="1337650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4C2983-1586-B3B3-FDE3-C8F2AA214335}"/>
              </a:ext>
            </a:extLst>
          </p:cNvPr>
          <p:cNvSpPr/>
          <p:nvPr/>
        </p:nvSpPr>
        <p:spPr>
          <a:xfrm>
            <a:off x="5654826" y="5080287"/>
            <a:ext cx="2926619" cy="1337650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/>
              <a:t>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77F215-DE1F-04E6-ADD2-CAEA353B07D3}"/>
              </a:ext>
            </a:extLst>
          </p:cNvPr>
          <p:cNvSpPr txBox="1"/>
          <p:nvPr/>
        </p:nvSpPr>
        <p:spPr>
          <a:xfrm>
            <a:off x="9030751" y="3430059"/>
            <a:ext cx="28477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Frequency </a:t>
            </a:r>
          </a:p>
          <a:p>
            <a:pPr algn="ctr"/>
            <a:r>
              <a:rPr lang="en-US" sz="2800" dirty="0"/>
              <a:t>Detector</a:t>
            </a:r>
          </a:p>
        </p:txBody>
      </p:sp>
      <p:pic>
        <p:nvPicPr>
          <p:cNvPr id="27" name="Picture 6">
            <a:extLst>
              <a:ext uri="{FF2B5EF4-FFF2-40B4-BE49-F238E27FC236}">
                <a16:creationId xmlns:a16="http://schemas.microsoft.com/office/drawing/2014/main" id="{85B32E1B-AC03-C435-2FAC-5D3AE8593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647697" y="3111382"/>
            <a:ext cx="3530561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38C698A-F027-5354-2E5D-3C5F1DCCBBAD}"/>
              </a:ext>
            </a:extLst>
          </p:cNvPr>
          <p:cNvSpPr/>
          <p:nvPr/>
        </p:nvSpPr>
        <p:spPr>
          <a:xfrm>
            <a:off x="5595694" y="3238288"/>
            <a:ext cx="3011593" cy="1337650"/>
          </a:xfrm>
          <a:prstGeom prst="rect">
            <a:avLst/>
          </a:prstGeom>
          <a:solidFill>
            <a:srgbClr val="D6D6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800">
                <a:solidFill>
                  <a:prstClr val="black"/>
                </a:solidFill>
              </a:rPr>
              <a:t>Progesterone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D83B5D-4A9A-4B4C-7C5D-A2E5D27D5E73}"/>
              </a:ext>
            </a:extLst>
          </p:cNvPr>
          <p:cNvSpPr txBox="1"/>
          <p:nvPr/>
        </p:nvSpPr>
        <p:spPr>
          <a:xfrm>
            <a:off x="1274517" y="4719364"/>
            <a:ext cx="3601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Broadband Radio Frequency Waves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E93192-67C0-BFC5-607E-B59B645736D4}"/>
              </a:ext>
            </a:extLst>
          </p:cNvPr>
          <p:cNvSpPr/>
          <p:nvPr/>
        </p:nvSpPr>
        <p:spPr>
          <a:xfrm>
            <a:off x="8771108" y="3411049"/>
            <a:ext cx="414788" cy="992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F78E0E-ED65-3CB5-EEC3-5609777F6D83}"/>
              </a:ext>
            </a:extLst>
          </p:cNvPr>
          <p:cNvSpPr txBox="1"/>
          <p:nvPr/>
        </p:nvSpPr>
        <p:spPr>
          <a:xfrm>
            <a:off x="5694248" y="375750"/>
            <a:ext cx="2847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/>
              <a:t>Homogenous </a:t>
            </a:r>
          </a:p>
          <a:p>
            <a:pPr algn="ctr"/>
            <a:r>
              <a:rPr lang="en-US" sz="2800"/>
              <a:t>Magnetic Field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5DB45D-AE7A-AF38-D31F-A4528B0A7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260766" y="897261"/>
            <a:ext cx="1550349" cy="232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2F9BDF63-AA40-74C1-9877-CC04FA783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812773" y="3241441"/>
            <a:ext cx="1942180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AA02DFAA-B56A-3A5C-55DA-553A3E6C6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866336" y="3189397"/>
            <a:ext cx="2219710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F6843686-2197-C6F0-0A78-69E4C5278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018736" y="3341797"/>
            <a:ext cx="2219710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58811139-FFD3-6EE6-7859-C163B637A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171136" y="3494197"/>
            <a:ext cx="2219710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9F001C2D-DB93-457B-2DE6-83E3CF142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043608" y="3238736"/>
            <a:ext cx="4388265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F36B424B-D0B3-E882-DA50-26F2A129D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082045" y="3362599"/>
            <a:ext cx="2219710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8A71DD45-BF2A-994D-9D6E-7DB26DDB9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4" b="89915" l="7128" r="94908">
                        <a14:foregroundMark x1="7196" y1="43499" x2="9369" y2="31592"/>
                        <a14:foregroundMark x1="87984" y1="75213" x2="94908" y2="4799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916871" y="3122757"/>
            <a:ext cx="3530561" cy="123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5A7172-6755-7B35-BAB6-4B6C86E58AEF}"/>
              </a:ext>
            </a:extLst>
          </p:cNvPr>
          <p:cNvSpPr txBox="1"/>
          <p:nvPr/>
        </p:nvSpPr>
        <p:spPr>
          <a:xfrm>
            <a:off x="26146" y="3282042"/>
            <a:ext cx="3934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Image Credit: </a:t>
            </a:r>
          </a:p>
          <a:p>
            <a:r>
              <a:rPr lang="en-CA" sz="1400" dirty="0"/>
              <a:t>Nobel Foundation archive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965430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98BDB1DB-02CD-9C83-2D5C-7F0B76716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2817" y="164025"/>
            <a:ext cx="5209632" cy="309321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B99F515-FD48-CD30-085B-0BFD8C6E34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3930" y="3347013"/>
            <a:ext cx="5251479" cy="3118066"/>
          </a:xfrm>
          <a:prstGeom prst="rect">
            <a:avLst/>
          </a:prstGeom>
        </p:spPr>
      </p:pic>
      <p:pic>
        <p:nvPicPr>
          <p:cNvPr id="16388" name="Picture 4" descr="Atoms – Primary Science Online">
            <a:extLst>
              <a:ext uri="{FF2B5EF4-FFF2-40B4-BE49-F238E27FC236}">
                <a16:creationId xmlns:a16="http://schemas.microsoft.com/office/drawing/2014/main" id="{2B418C74-56D5-C3B0-0AF7-C33E374EC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33" y="615729"/>
            <a:ext cx="2836479" cy="189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Atoms – Primary Science Online">
            <a:extLst>
              <a:ext uri="{FF2B5EF4-FFF2-40B4-BE49-F238E27FC236}">
                <a16:creationId xmlns:a16="http://schemas.microsoft.com/office/drawing/2014/main" id="{6E78909E-74A3-61E4-AE9D-95A009AF0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336" y="4960174"/>
            <a:ext cx="1592637" cy="1061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toms – Primary Science Online">
            <a:extLst>
              <a:ext uri="{FF2B5EF4-FFF2-40B4-BE49-F238E27FC236}">
                <a16:creationId xmlns:a16="http://schemas.microsoft.com/office/drawing/2014/main" id="{FAFFA441-3D5F-B90D-D758-D3BF7A380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733" y="3657497"/>
            <a:ext cx="1418240" cy="94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toms – Primary Science Online">
            <a:extLst>
              <a:ext uri="{FF2B5EF4-FFF2-40B4-BE49-F238E27FC236}">
                <a16:creationId xmlns:a16="http://schemas.microsoft.com/office/drawing/2014/main" id="{FFF6EFE0-7691-54BA-5D38-3C34A66D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583" y="4351286"/>
            <a:ext cx="1418240" cy="94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toms – Primary Science Online">
            <a:extLst>
              <a:ext uri="{FF2B5EF4-FFF2-40B4-BE49-F238E27FC236}">
                <a16:creationId xmlns:a16="http://schemas.microsoft.com/office/drawing/2014/main" id="{5C37B1BB-AA0B-4783-F735-BEA4F9B97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33" y="3673642"/>
            <a:ext cx="1418240" cy="94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toms – Primary Science Online">
            <a:extLst>
              <a:ext uri="{FF2B5EF4-FFF2-40B4-BE49-F238E27FC236}">
                <a16:creationId xmlns:a16="http://schemas.microsoft.com/office/drawing/2014/main" id="{798B03D3-10F8-3EB4-DA8A-88B2CAD46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93" y="5061220"/>
            <a:ext cx="1418240" cy="94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6B69F5-7DC1-422B-6E18-91BB35BF71DC}"/>
              </a:ext>
            </a:extLst>
          </p:cNvPr>
          <p:cNvSpPr txBox="1"/>
          <p:nvPr/>
        </p:nvSpPr>
        <p:spPr>
          <a:xfrm>
            <a:off x="458741" y="2626934"/>
            <a:ext cx="303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Same atom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1B9B5-C2F4-D2EF-3556-29AC5D41AA4D}"/>
              </a:ext>
            </a:extLst>
          </p:cNvPr>
          <p:cNvSpPr txBox="1"/>
          <p:nvPr/>
        </p:nvSpPr>
        <p:spPr>
          <a:xfrm>
            <a:off x="225589" y="6043690"/>
            <a:ext cx="37082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Different Atoms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D4CEE6-37CE-16A5-2268-4D27FE4D7684}"/>
              </a:ext>
            </a:extLst>
          </p:cNvPr>
          <p:cNvSpPr txBox="1"/>
          <p:nvPr/>
        </p:nvSpPr>
        <p:spPr>
          <a:xfrm>
            <a:off x="8711335" y="1787524"/>
            <a:ext cx="30392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How do we get the frequency?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1F8CA3-6E8C-DA64-028A-15E120AECD6B}"/>
              </a:ext>
            </a:extLst>
          </p:cNvPr>
          <p:cNvSpPr txBox="1"/>
          <p:nvPr/>
        </p:nvSpPr>
        <p:spPr>
          <a:xfrm>
            <a:off x="8752557" y="4401040"/>
            <a:ext cx="30392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How do we tell them apart?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D5C16-D68D-A74A-C261-BE39AC11E517}"/>
              </a:ext>
            </a:extLst>
          </p:cNvPr>
          <p:cNvSpPr txBox="1"/>
          <p:nvPr/>
        </p:nvSpPr>
        <p:spPr>
          <a:xfrm>
            <a:off x="4596486" y="164025"/>
            <a:ext cx="4849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Free Induction Decay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C50F2E-249E-F448-8C65-296A7EE707BE}"/>
              </a:ext>
            </a:extLst>
          </p:cNvPr>
          <p:cNvSpPr txBox="1"/>
          <p:nvPr/>
        </p:nvSpPr>
        <p:spPr>
          <a:xfrm>
            <a:off x="6563664" y="3008459"/>
            <a:ext cx="2358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Self-produced Graph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8A3097-4876-D127-4B50-4633A89AA3A5}"/>
              </a:ext>
            </a:extLst>
          </p:cNvPr>
          <p:cNvSpPr txBox="1"/>
          <p:nvPr/>
        </p:nvSpPr>
        <p:spPr>
          <a:xfrm>
            <a:off x="6816143" y="6413022"/>
            <a:ext cx="2358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Self-produced Graph</a:t>
            </a:r>
          </a:p>
        </p:txBody>
      </p:sp>
    </p:spTree>
    <p:extLst>
      <p:ext uri="{BB962C8B-B14F-4D97-AF65-F5344CB8AC3E}">
        <p14:creationId xmlns:p14="http://schemas.microsoft.com/office/powerpoint/2010/main" val="31788754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4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034F62-CDBE-35FA-88A7-51B6A11BE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Joseph Fourier - Wikipedia">
            <a:extLst>
              <a:ext uri="{FF2B5EF4-FFF2-40B4-BE49-F238E27FC236}">
                <a16:creationId xmlns:a16="http://schemas.microsoft.com/office/drawing/2014/main" id="{648B647C-5668-5A67-C842-C48F48B96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85" y="1141922"/>
            <a:ext cx="4067161" cy="514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789012-2FF3-5DAB-8F87-61E71A6765AF}"/>
              </a:ext>
            </a:extLst>
          </p:cNvPr>
          <p:cNvSpPr txBox="1"/>
          <p:nvPr/>
        </p:nvSpPr>
        <p:spPr>
          <a:xfrm>
            <a:off x="-111734" y="310925"/>
            <a:ext cx="46369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4800" dirty="0"/>
              <a:t>Joseph Fourier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F5762-90D2-AB2A-7ED3-D5C8227E36F6}"/>
              </a:ext>
            </a:extLst>
          </p:cNvPr>
          <p:cNvSpPr txBox="1"/>
          <p:nvPr/>
        </p:nvSpPr>
        <p:spPr>
          <a:xfrm>
            <a:off x="159466" y="6107143"/>
            <a:ext cx="42710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Looking at Heat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AA2A17E-D37C-9260-7118-E50E1AECB5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4061" y="72370"/>
            <a:ext cx="7298568" cy="3421203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689E2EB-8DCA-FA59-2301-EAAC477559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9112"/>
          <a:stretch>
            <a:fillRect/>
          </a:stretch>
        </p:blipFill>
        <p:spPr>
          <a:xfrm>
            <a:off x="4430525" y="3400091"/>
            <a:ext cx="7726677" cy="32918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ED1316-FDF2-8154-3B08-55917814F064}"/>
              </a:ext>
            </a:extLst>
          </p:cNvPr>
          <p:cNvSpPr txBox="1"/>
          <p:nvPr/>
        </p:nvSpPr>
        <p:spPr>
          <a:xfrm>
            <a:off x="6666152" y="3429000"/>
            <a:ext cx="4861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Fourier Transform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39F197-117C-D50E-080D-A89AAFE21327}"/>
              </a:ext>
            </a:extLst>
          </p:cNvPr>
          <p:cNvSpPr txBox="1"/>
          <p:nvPr/>
        </p:nvSpPr>
        <p:spPr>
          <a:xfrm>
            <a:off x="159465" y="5768589"/>
            <a:ext cx="42710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Public Domain Illustration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47B5D8-93FB-148F-383D-536BBC55EDBC}"/>
              </a:ext>
            </a:extLst>
          </p:cNvPr>
          <p:cNvSpPr txBox="1"/>
          <p:nvPr/>
        </p:nvSpPr>
        <p:spPr>
          <a:xfrm>
            <a:off x="9833696" y="3155019"/>
            <a:ext cx="2358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Self-produced Graph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B001A1-B524-4487-EA53-0DAD3406282A}"/>
              </a:ext>
            </a:extLst>
          </p:cNvPr>
          <p:cNvSpPr txBox="1"/>
          <p:nvPr/>
        </p:nvSpPr>
        <p:spPr>
          <a:xfrm>
            <a:off x="9989077" y="6414729"/>
            <a:ext cx="2358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Self-produced Graph</a:t>
            </a:r>
          </a:p>
        </p:txBody>
      </p:sp>
    </p:spTree>
    <p:extLst>
      <p:ext uri="{BB962C8B-B14F-4D97-AF65-F5344CB8AC3E}">
        <p14:creationId xmlns:p14="http://schemas.microsoft.com/office/powerpoint/2010/main" val="1604786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24A1E-9292-E9A0-18B4-026D15A36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846DA4-73ED-3F29-0A55-80017201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50" y="78985"/>
            <a:ext cx="10515600" cy="802772"/>
          </a:xfrm>
        </p:spPr>
        <p:txBody>
          <a:bodyPr>
            <a:normAutofit/>
          </a:bodyPr>
          <a:lstStyle/>
          <a:p>
            <a:r>
              <a:rPr lang="en-CA" dirty="0"/>
              <a:t>Richard Ernst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C9EFFFF-465D-895B-086D-B82D14045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60766" y="897261"/>
            <a:ext cx="1550349" cy="232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graph of a sound wave&#10;&#10;AI-generated content may be incorrect.">
            <a:extLst>
              <a:ext uri="{FF2B5EF4-FFF2-40B4-BE49-F238E27FC236}">
                <a16:creationId xmlns:a16="http://schemas.microsoft.com/office/drawing/2014/main" id="{98BCD229-9DFF-DBE7-AD25-A001937D4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719" y="91837"/>
            <a:ext cx="5313115" cy="3058082"/>
          </a:xfrm>
          <a:prstGeom prst="rect">
            <a:avLst/>
          </a:prstGeom>
        </p:spPr>
      </p:pic>
      <p:pic>
        <p:nvPicPr>
          <p:cNvPr id="13" name="Picture 12" descr="A graph of a graph showing a number of numbers&#10;&#10;AI-generated content may be incorrect.">
            <a:extLst>
              <a:ext uri="{FF2B5EF4-FFF2-40B4-BE49-F238E27FC236}">
                <a16:creationId xmlns:a16="http://schemas.microsoft.com/office/drawing/2014/main" id="{880D3230-8C13-8B41-D0CE-00A3109BF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821" y="3919360"/>
            <a:ext cx="5203146" cy="2761944"/>
          </a:xfrm>
          <a:prstGeom prst="rect">
            <a:avLst/>
          </a:prstGeom>
        </p:spPr>
      </p:pic>
      <p:pic>
        <p:nvPicPr>
          <p:cNvPr id="5122" name="Picture 2" descr="The chemical structure of progesterone">
            <a:extLst>
              <a:ext uri="{FF2B5EF4-FFF2-40B4-BE49-F238E27FC236}">
                <a16:creationId xmlns:a16="http://schemas.microsoft.com/office/drawing/2014/main" id="{87D6C788-7AC3-7E71-2D63-3FB6BCB6B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473" y="2241453"/>
            <a:ext cx="3299990" cy="2434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79F7E1-2BC6-9CA3-1CFB-144CEA1154E6}"/>
              </a:ext>
            </a:extLst>
          </p:cNvPr>
          <p:cNvSpPr txBox="1"/>
          <p:nvPr/>
        </p:nvSpPr>
        <p:spPr>
          <a:xfrm>
            <a:off x="2721139" y="775280"/>
            <a:ext cx="37445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Free Induction Decay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6BEF-78AD-32E0-DE79-1603D6803736}"/>
              </a:ext>
            </a:extLst>
          </p:cNvPr>
          <p:cNvSpPr txBox="1"/>
          <p:nvPr/>
        </p:nvSpPr>
        <p:spPr>
          <a:xfrm>
            <a:off x="6916971" y="3149919"/>
            <a:ext cx="4861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Fourier Transform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3C1BD1-4A5D-FF77-3659-786BEAB1DC78}"/>
              </a:ext>
            </a:extLst>
          </p:cNvPr>
          <p:cNvSpPr txBox="1"/>
          <p:nvPr/>
        </p:nvSpPr>
        <p:spPr>
          <a:xfrm>
            <a:off x="2020943" y="4702432"/>
            <a:ext cx="4861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Progesterone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3A14EA-2F0A-0892-5AEF-F1ACE65C0C05}"/>
              </a:ext>
            </a:extLst>
          </p:cNvPr>
          <p:cNvSpPr txBox="1"/>
          <p:nvPr/>
        </p:nvSpPr>
        <p:spPr>
          <a:xfrm>
            <a:off x="1833536" y="5404971"/>
            <a:ext cx="48618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First FT-NMR</a:t>
            </a:r>
          </a:p>
        </p:txBody>
      </p:sp>
      <p:pic>
        <p:nvPicPr>
          <p:cNvPr id="18" name="Picture 2" descr="Nobel Prize - Wikipedia">
            <a:extLst>
              <a:ext uri="{FF2B5EF4-FFF2-40B4-BE49-F238E27FC236}">
                <a16:creationId xmlns:a16="http://schemas.microsoft.com/office/drawing/2014/main" id="{358AFEFA-2435-4BD3-53D4-65C9DAC0A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66" y="4198105"/>
            <a:ext cx="1739019" cy="171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9AF27D-6034-E2BD-FD6B-39B436700643}"/>
              </a:ext>
            </a:extLst>
          </p:cNvPr>
          <p:cNvSpPr txBox="1"/>
          <p:nvPr/>
        </p:nvSpPr>
        <p:spPr>
          <a:xfrm>
            <a:off x="26146" y="3282042"/>
            <a:ext cx="3934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/>
              <a:t>Image Credit: </a:t>
            </a:r>
          </a:p>
          <a:p>
            <a:r>
              <a:rPr lang="en-CA" sz="1400" dirty="0"/>
              <a:t>Nobel Foundation archive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1B617-D7AC-AF93-FE45-59BA8925A477}"/>
              </a:ext>
            </a:extLst>
          </p:cNvPr>
          <p:cNvSpPr txBox="1"/>
          <p:nvPr/>
        </p:nvSpPr>
        <p:spPr>
          <a:xfrm>
            <a:off x="26146" y="6247383"/>
            <a:ext cx="8300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Application of Fourier Transform Spectroscopy to Magnetic</a:t>
            </a:r>
          </a:p>
          <a:p>
            <a:r>
              <a:rPr lang="en-US" dirty="0"/>
              <a:t>Resonance - R. R. Ernst and W. A. Anderson. </a:t>
            </a:r>
            <a:r>
              <a:rPr lang="en-CA" dirty="0"/>
              <a:t>Reproduced without permission.</a:t>
            </a:r>
          </a:p>
        </p:txBody>
      </p:sp>
    </p:spTree>
    <p:extLst>
      <p:ext uri="{BB962C8B-B14F-4D97-AF65-F5344CB8AC3E}">
        <p14:creationId xmlns:p14="http://schemas.microsoft.com/office/powerpoint/2010/main" val="199202081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90DD-E297-F312-B5CA-E6735E7AE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8F9D299-AB84-A427-A0CC-5B0BC62929B8}"/>
              </a:ext>
            </a:extLst>
          </p:cNvPr>
          <p:cNvGrpSpPr/>
          <p:nvPr/>
        </p:nvGrpSpPr>
        <p:grpSpPr>
          <a:xfrm>
            <a:off x="5736066" y="3464016"/>
            <a:ext cx="2892671" cy="2675027"/>
            <a:chOff x="3879850" y="1295400"/>
            <a:chExt cx="4432300" cy="4172036"/>
          </a:xfrm>
        </p:grpSpPr>
        <p:pic>
          <p:nvPicPr>
            <p:cNvPr id="13" name="Picture 12" descr="A diagram of a sphere with a cone and a point&#10;&#10;AI-generated content may be incorrect.">
              <a:extLst>
                <a:ext uri="{FF2B5EF4-FFF2-40B4-BE49-F238E27FC236}">
                  <a16:creationId xmlns:a16="http://schemas.microsoft.com/office/drawing/2014/main" id="{08BA8FCF-BDA6-2BCE-8B27-A7995A726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230"/>
            <a:stretch>
              <a:fillRect/>
            </a:stretch>
          </p:blipFill>
          <p:spPr>
            <a:xfrm>
              <a:off x="3879850" y="1295400"/>
              <a:ext cx="4432300" cy="41720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554528-7D32-4DB3-221C-0EDBB93E4891}"/>
                    </a:ext>
                  </a:extLst>
                </p14:cNvPr>
                <p14:cNvContentPartPr/>
                <p14:nvPr/>
              </p14:nvContentPartPr>
              <p14:xfrm>
                <a:off x="7617840" y="4886088"/>
                <a:ext cx="683280" cy="570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554528-7D32-4DB3-221C-0EDBB93E48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521332" y="4787902"/>
                  <a:ext cx="875745" cy="766411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F4E4B63A-0606-BE9F-0D1D-58884DF6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350" y="78985"/>
            <a:ext cx="10515600" cy="802772"/>
          </a:xfrm>
        </p:spPr>
        <p:txBody>
          <a:bodyPr>
            <a:normAutofit/>
          </a:bodyPr>
          <a:lstStyle/>
          <a:p>
            <a:r>
              <a:rPr lang="en-CA"/>
              <a:t>Nuance: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B6FCF6D-C0D4-0CC1-6BCD-1BA660D6381E}"/>
              </a:ext>
            </a:extLst>
          </p:cNvPr>
          <p:cNvSpPr txBox="1">
            <a:spLocks/>
          </p:cNvSpPr>
          <p:nvPr/>
        </p:nvSpPr>
        <p:spPr>
          <a:xfrm>
            <a:off x="433345" y="3040957"/>
            <a:ext cx="5201561" cy="1460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/>
              <a:t>Angular momentum causing procession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25B4A2F-882D-1C7D-3653-8E0DD41D8B9E}"/>
              </a:ext>
            </a:extLst>
          </p:cNvPr>
          <p:cNvSpPr txBox="1">
            <a:spLocks/>
          </p:cNvSpPr>
          <p:nvPr/>
        </p:nvSpPr>
        <p:spPr>
          <a:xfrm>
            <a:off x="563504" y="1390564"/>
            <a:ext cx="5532496" cy="1264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6000" dirty="0"/>
              <a:t>Where Frequency? </a:t>
            </a:r>
          </a:p>
        </p:txBody>
      </p:sp>
      <p:pic>
        <p:nvPicPr>
          <p:cNvPr id="10242" name="Picture 2" descr="Precession - Wikipedia">
            <a:extLst>
              <a:ext uri="{FF2B5EF4-FFF2-40B4-BE49-F238E27FC236}">
                <a16:creationId xmlns:a16="http://schemas.microsoft.com/office/drawing/2014/main" id="{5304AAF4-1C19-3FAD-CC9E-4E1A1245A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5372"/>
            <a:ext cx="2845585" cy="284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DC41F0A-8B11-9383-74A1-09E338E7A5A0}"/>
              </a:ext>
            </a:extLst>
          </p:cNvPr>
          <p:cNvSpPr txBox="1">
            <a:spLocks/>
          </p:cNvSpPr>
          <p:nvPr/>
        </p:nvSpPr>
        <p:spPr>
          <a:xfrm>
            <a:off x="9196536" y="1194765"/>
            <a:ext cx="2841198" cy="1460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/>
              <a:t>Gyroscopic Precession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AFFF1A8-B1A2-63D7-A5A4-D6DE9A6C6FDC}"/>
              </a:ext>
            </a:extLst>
          </p:cNvPr>
          <p:cNvSpPr txBox="1">
            <a:spLocks/>
          </p:cNvSpPr>
          <p:nvPr/>
        </p:nvSpPr>
        <p:spPr>
          <a:xfrm>
            <a:off x="400081" y="5003808"/>
            <a:ext cx="5201561" cy="1460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/>
              <a:t>SPIN but not SPINNING!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3352E-5142-1650-424A-28FA850FD43F}"/>
              </a:ext>
            </a:extLst>
          </p:cNvPr>
          <p:cNvSpPr/>
          <p:nvPr/>
        </p:nvSpPr>
        <p:spPr>
          <a:xfrm>
            <a:off x="5675183" y="2952290"/>
            <a:ext cx="3011593" cy="441694"/>
          </a:xfrm>
          <a:prstGeom prst="rect">
            <a:avLst/>
          </a:prstGeom>
          <a:solidFill>
            <a:srgbClr val="E3170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/>
              <a:t>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9A5964-A552-BB74-938E-12D3E9D80C5E}"/>
              </a:ext>
            </a:extLst>
          </p:cNvPr>
          <p:cNvSpPr/>
          <p:nvPr/>
        </p:nvSpPr>
        <p:spPr>
          <a:xfrm>
            <a:off x="5634906" y="6337321"/>
            <a:ext cx="2926619" cy="441694"/>
          </a:xfrm>
          <a:prstGeom prst="rect">
            <a:avLst/>
          </a:prstGeom>
          <a:solidFill>
            <a:srgbClr val="0126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5E60A46-4B22-D8DB-926C-2DB05FA78F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39258"/>
          <a:stretch>
            <a:fillRect/>
          </a:stretch>
        </p:blipFill>
        <p:spPr>
          <a:xfrm>
            <a:off x="8628737" y="3464016"/>
            <a:ext cx="3295039" cy="322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391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" grpId="0"/>
      <p:bldP spid="6" grpId="0"/>
      <p:bldP spid="8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1ADA6-1D9C-41B6-A5C1-5B78CEFD1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But what nuclei resonate?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7042D6-3942-4883-90CE-2D55A92A8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2386" cy="1483866"/>
          </a:xfrm>
        </p:spPr>
        <p:txBody>
          <a:bodyPr>
            <a:normAutofit/>
          </a:bodyPr>
          <a:lstStyle/>
          <a:p>
            <a:r>
              <a:rPr lang="en-US"/>
              <a:t>Only some nuclei’s spin give signals.</a:t>
            </a:r>
          </a:p>
          <a:p>
            <a:r>
              <a:rPr lang="en-US"/>
              <a:t>Dependent on nucleons.</a:t>
            </a:r>
          </a:p>
          <a:p>
            <a:endParaRPr lang="pt-BR"/>
          </a:p>
        </p:txBody>
      </p:sp>
      <p:pic>
        <p:nvPicPr>
          <p:cNvPr id="1026" name="Picture 2" descr="14.1: An Introduction to NMR Spectroscopy - Chemistry LibreTexts">
            <a:extLst>
              <a:ext uri="{FF2B5EF4-FFF2-40B4-BE49-F238E27FC236}">
                <a16:creationId xmlns:a16="http://schemas.microsoft.com/office/drawing/2014/main" id="{E848E498-45EF-46E7-860E-53FFD5DB6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03" y="3221637"/>
            <a:ext cx="3582140" cy="313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24795737-3886-4E5B-B323-3F8807D85414}"/>
              </a:ext>
            </a:extLst>
          </p:cNvPr>
          <p:cNvSpPr txBox="1">
            <a:spLocks/>
          </p:cNvSpPr>
          <p:nvPr/>
        </p:nvSpPr>
        <p:spPr>
          <a:xfrm>
            <a:off x="5012185" y="4596365"/>
            <a:ext cx="2391792" cy="597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½ spin state</a:t>
            </a:r>
          </a:p>
          <a:p>
            <a:endParaRPr lang="pt-BR"/>
          </a:p>
        </p:txBody>
      </p:sp>
      <p:pic>
        <p:nvPicPr>
          <p:cNvPr id="1030" name="Picture 6" descr="Isotopes of Hydrogen">
            <a:extLst>
              <a:ext uri="{FF2B5EF4-FFF2-40B4-BE49-F238E27FC236}">
                <a16:creationId xmlns:a16="http://schemas.microsoft.com/office/drawing/2014/main" id="{BE8D16F3-1CDE-4FD3-8E4E-3A412A454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045" y="1449134"/>
            <a:ext cx="6226576" cy="291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ração 3">
            <a:extLst>
              <a:ext uri="{FF2B5EF4-FFF2-40B4-BE49-F238E27FC236}">
                <a16:creationId xmlns:a16="http://schemas.microsoft.com/office/drawing/2014/main" id="{8B81ACF0-0B75-4119-BE9A-CA7B51227855}"/>
              </a:ext>
            </a:extLst>
          </p:cNvPr>
          <p:cNvSpPr/>
          <p:nvPr/>
        </p:nvSpPr>
        <p:spPr>
          <a:xfrm>
            <a:off x="5693722" y="3544458"/>
            <a:ext cx="1028717" cy="816940"/>
          </a:xfrm>
          <a:prstGeom prst="hear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22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2B681-727D-46F2-A0DA-BC732C4E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Differentiate the Signal 101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BAB3AC-7185-4F83-A3C0-AA9EAC9FF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59295"/>
            <a:ext cx="10515600" cy="1033568"/>
          </a:xfrm>
        </p:spPr>
        <p:txBody>
          <a:bodyPr/>
          <a:lstStyle/>
          <a:p>
            <a:r>
              <a:rPr lang="en-US"/>
              <a:t>Larmor frequency </a:t>
            </a:r>
          </a:p>
          <a:p>
            <a:r>
              <a:rPr lang="en-US"/>
              <a:t>Dependent on shielding </a:t>
            </a:r>
            <a:endParaRPr lang="pt-BR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2917974-ADAE-4671-A931-F08A22AAF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30" t="13980" r="63573" b="32949"/>
          <a:stretch/>
        </p:blipFill>
        <p:spPr bwMode="auto">
          <a:xfrm>
            <a:off x="9310269" y="3349101"/>
            <a:ext cx="1651246" cy="214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014CF33-08F1-4C20-BCB3-5222473B4A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24" t="15351" r="9428" b="31577"/>
          <a:stretch/>
        </p:blipFill>
        <p:spPr bwMode="auto">
          <a:xfrm>
            <a:off x="838200" y="3271158"/>
            <a:ext cx="1595391" cy="222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E8B1004-D6A2-42EA-A88E-C91324E2FCDE}"/>
              </a:ext>
            </a:extLst>
          </p:cNvPr>
          <p:cNvSpPr txBox="1"/>
          <p:nvPr/>
        </p:nvSpPr>
        <p:spPr>
          <a:xfrm>
            <a:off x="8911143" y="2884858"/>
            <a:ext cx="244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Stronger magnetic field</a:t>
            </a:r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5592861-AA9E-43E1-9A63-DB69CE64B280}"/>
              </a:ext>
            </a:extLst>
          </p:cNvPr>
          <p:cNvSpPr txBox="1"/>
          <p:nvPr/>
        </p:nvSpPr>
        <p:spPr>
          <a:xfrm>
            <a:off x="516384" y="2834358"/>
            <a:ext cx="2449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Weaker magnetic field</a:t>
            </a:r>
            <a:endParaRPr lang="pt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AD8BE084-2CF3-485A-888F-58C82355722B}"/>
                  </a:ext>
                </a:extLst>
              </p14:cNvPr>
              <p14:cNvContentPartPr/>
              <p14:nvPr/>
            </p14:nvContentPartPr>
            <p14:xfrm>
              <a:off x="3142475" y="3035793"/>
              <a:ext cx="441000" cy="63288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AD8BE084-2CF3-485A-888F-58C8235572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33482" y="3026793"/>
                <a:ext cx="458626" cy="65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0FD412DE-E980-4166-834D-88EE888846A3}"/>
                  </a:ext>
                </a:extLst>
              </p14:cNvPr>
              <p14:cNvContentPartPr/>
              <p14:nvPr/>
            </p14:nvContentPartPr>
            <p14:xfrm>
              <a:off x="3462155" y="3541593"/>
              <a:ext cx="176400" cy="13068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0FD412DE-E980-4166-834D-88EE888846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53173" y="3532593"/>
                <a:ext cx="194004" cy="14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963438F-A519-4816-983F-A00CE1C4E690}"/>
              </a:ext>
            </a:extLst>
          </p:cNvPr>
          <p:cNvGrpSpPr/>
          <p:nvPr/>
        </p:nvGrpSpPr>
        <p:grpSpPr>
          <a:xfrm>
            <a:off x="8513675" y="3062433"/>
            <a:ext cx="301680" cy="478440"/>
            <a:chOff x="8513675" y="3062433"/>
            <a:chExt cx="30168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C7801B1D-302B-4438-BFEE-20AD94AD68A5}"/>
                    </a:ext>
                  </a:extLst>
                </p14:cNvPr>
                <p14:cNvContentPartPr/>
                <p14:nvPr/>
              </p14:nvContentPartPr>
              <p14:xfrm>
                <a:off x="8584235" y="3062433"/>
                <a:ext cx="231120" cy="47844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C7801B1D-302B-4438-BFEE-20AD94AD68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75249" y="3053433"/>
                  <a:ext cx="248733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1A774650-EC1D-4DCF-8A0A-3D10764F3151}"/>
                    </a:ext>
                  </a:extLst>
                </p14:cNvPr>
                <p14:cNvContentPartPr/>
                <p14:nvPr/>
              </p14:nvContentPartPr>
              <p14:xfrm>
                <a:off x="8513675" y="3426393"/>
                <a:ext cx="173160" cy="1090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1A774650-EC1D-4DCF-8A0A-3D10764F315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04675" y="3417393"/>
                  <a:ext cx="190800" cy="126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904EE20-09B7-44E0-878E-9167E5777C78}"/>
              </a:ext>
            </a:extLst>
          </p:cNvPr>
          <p:cNvSpPr txBox="1"/>
          <p:nvPr/>
        </p:nvSpPr>
        <p:spPr>
          <a:xfrm>
            <a:off x="3142475" y="3851307"/>
            <a:ext cx="165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Lower frequency</a:t>
            </a:r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C351064-33FD-4F3D-98E8-ACB8D481BB9E}"/>
              </a:ext>
            </a:extLst>
          </p:cNvPr>
          <p:cNvSpPr txBox="1"/>
          <p:nvPr/>
        </p:nvSpPr>
        <p:spPr>
          <a:xfrm>
            <a:off x="7758612" y="3776968"/>
            <a:ext cx="165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Higher frequency</a:t>
            </a:r>
            <a:endParaRPr lang="pt-B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753972B4-DE8A-4D1F-9BC2-1650514A7795}"/>
                  </a:ext>
                </a:extLst>
              </p14:cNvPr>
              <p14:cNvContentPartPr/>
              <p14:nvPr/>
            </p14:nvContentPartPr>
            <p14:xfrm>
              <a:off x="3515435" y="4624833"/>
              <a:ext cx="359640" cy="6692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753972B4-DE8A-4D1F-9BC2-1650514A77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06435" y="4615838"/>
                <a:ext cx="377280" cy="6868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1EC85975-40FD-4A1C-BCFB-0AB12ADD60BB}"/>
                  </a:ext>
                </a:extLst>
              </p14:cNvPr>
              <p14:cNvContentPartPr/>
              <p14:nvPr/>
            </p14:nvContentPartPr>
            <p14:xfrm>
              <a:off x="3790475" y="5122353"/>
              <a:ext cx="115560" cy="28980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1EC85975-40FD-4A1C-BCFB-0AB12ADD60B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81475" y="5113353"/>
                <a:ext cx="133200" cy="30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Agrupar 25">
            <a:extLst>
              <a:ext uri="{FF2B5EF4-FFF2-40B4-BE49-F238E27FC236}">
                <a16:creationId xmlns:a16="http://schemas.microsoft.com/office/drawing/2014/main" id="{6314F614-6A6C-4A08-9DA5-A55AAB254D83}"/>
              </a:ext>
            </a:extLst>
          </p:cNvPr>
          <p:cNvGrpSpPr/>
          <p:nvPr/>
        </p:nvGrpSpPr>
        <p:grpSpPr>
          <a:xfrm>
            <a:off x="7895555" y="4598553"/>
            <a:ext cx="485640" cy="699480"/>
            <a:chOff x="7895555" y="4598553"/>
            <a:chExt cx="48564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18AA5D7F-BE93-47AE-A9AA-995564F2E66F}"/>
                    </a:ext>
                  </a:extLst>
                </p14:cNvPr>
                <p14:cNvContentPartPr/>
                <p14:nvPr/>
              </p14:nvContentPartPr>
              <p14:xfrm>
                <a:off x="7896275" y="4598553"/>
                <a:ext cx="484920" cy="62568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18AA5D7F-BE93-47AE-A9AA-995564F2E66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887275" y="4589553"/>
                  <a:ext cx="502560" cy="64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8D354D70-D884-4E71-BDC5-B3D91D87C559}"/>
                    </a:ext>
                  </a:extLst>
                </p14:cNvPr>
                <p14:cNvContentPartPr/>
                <p14:nvPr/>
              </p14:nvContentPartPr>
              <p14:xfrm>
                <a:off x="7895555" y="5069073"/>
                <a:ext cx="87840" cy="22896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8D354D70-D884-4E71-BDC5-B3D91D87C55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86518" y="5060087"/>
                  <a:ext cx="105553" cy="24657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9BA6DA2-54C4-4B15-8D3B-B19E6ECDDDEC}"/>
              </a:ext>
            </a:extLst>
          </p:cNvPr>
          <p:cNvSpPr txBox="1"/>
          <p:nvPr/>
        </p:nvSpPr>
        <p:spPr>
          <a:xfrm>
            <a:off x="4092606" y="5069073"/>
            <a:ext cx="133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Lower energy</a:t>
            </a:r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DDE649C-4DCF-4FDC-A7E8-CE13BB1661EC}"/>
              </a:ext>
            </a:extLst>
          </p:cNvPr>
          <p:cNvSpPr txBox="1"/>
          <p:nvPr/>
        </p:nvSpPr>
        <p:spPr>
          <a:xfrm>
            <a:off x="6753606" y="4987643"/>
            <a:ext cx="133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Higher energy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116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0E7DC-79FD-4CCC-98EE-F1165379F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096" y="320586"/>
            <a:ext cx="7937007" cy="1325563"/>
          </a:xfrm>
        </p:spPr>
        <p:txBody>
          <a:bodyPr/>
          <a:lstStyle/>
          <a:p>
            <a:pPr algn="ctr"/>
            <a:r>
              <a:rPr lang="en-US"/>
              <a:t>Chemical Environment and Shift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BDEF95-D816-4A4E-A48F-BD6C3B50F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9549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Electronegativity and quantity of electrons</a:t>
            </a:r>
          </a:p>
        </p:txBody>
      </p:sp>
      <p:pic>
        <p:nvPicPr>
          <p:cNvPr id="2050" name="Picture 2" descr="14.3: Shielding Causes Different Hydrogens to Show Signals at Different  Frequencies - Chemistry LibreTexts">
            <a:extLst>
              <a:ext uri="{FF2B5EF4-FFF2-40B4-BE49-F238E27FC236}">
                <a16:creationId xmlns:a16="http://schemas.microsoft.com/office/drawing/2014/main" id="{9EBBF195-3FC8-4267-8298-476504EF7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332" y="3485863"/>
            <a:ext cx="5400029" cy="1602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Silane - Wikipedia">
            <a:extLst>
              <a:ext uri="{FF2B5EF4-FFF2-40B4-BE49-F238E27FC236}">
                <a16:creationId xmlns:a16="http://schemas.microsoft.com/office/drawing/2014/main" id="{7328D120-5E66-4396-9CAB-E185E61D7A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606118"/>
            <a:ext cx="1975282" cy="197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56DA4D82-87FB-46A0-801A-0B08BE93E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27" y="4296792"/>
            <a:ext cx="1929907" cy="201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Methane Molecule in 3D using Jmol">
            <a:extLst>
              <a:ext uri="{FF2B5EF4-FFF2-40B4-BE49-F238E27FC236}">
                <a16:creationId xmlns:a16="http://schemas.microsoft.com/office/drawing/2014/main" id="{26EFC2A7-5B0C-4DD8-8F94-608694560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578" y="4205440"/>
            <a:ext cx="2224072" cy="220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2FB4A024-0B58-4C1C-A447-D504E773027A}"/>
              </a:ext>
            </a:extLst>
          </p:cNvPr>
          <p:cNvSpPr/>
          <p:nvPr/>
        </p:nvSpPr>
        <p:spPr>
          <a:xfrm>
            <a:off x="5723892" y="5010475"/>
            <a:ext cx="835655" cy="541759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D4E5AA0A-B168-4376-ABDC-A9C49F5F4F3F}"/>
              </a:ext>
            </a:extLst>
          </p:cNvPr>
          <p:cNvSpPr/>
          <p:nvPr/>
        </p:nvSpPr>
        <p:spPr>
          <a:xfrm>
            <a:off x="5362830" y="5660136"/>
            <a:ext cx="1466339" cy="23957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9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" fill="hold"/>
                                        <p:tgtEl>
                                          <p:spTgt spid="205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29A230-A93D-4C08-9066-3A74DF654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745" y="2244026"/>
            <a:ext cx="4064510" cy="76435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4400"/>
              <a:t>Parts per million</a:t>
            </a:r>
            <a:endParaRPr lang="pt-BR" sz="4400"/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5A3F00A-E914-4297-8D01-D2702C780A40}"/>
              </a:ext>
            </a:extLst>
          </p:cNvPr>
          <p:cNvSpPr/>
          <p:nvPr/>
        </p:nvSpPr>
        <p:spPr>
          <a:xfrm>
            <a:off x="5362830" y="-314071"/>
            <a:ext cx="1466339" cy="23957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4" name="Picture 2" descr="Tetramethylsilane - Wikipedia">
            <a:extLst>
              <a:ext uri="{FF2B5EF4-FFF2-40B4-BE49-F238E27FC236}">
                <a16:creationId xmlns:a16="http://schemas.microsoft.com/office/drawing/2014/main" id="{AC8FCFF3-862F-4C2F-A750-4891CBB00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655" y="2993833"/>
            <a:ext cx="3218688" cy="199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Tinta 13">
                <a:extLst>
                  <a:ext uri="{FF2B5EF4-FFF2-40B4-BE49-F238E27FC236}">
                    <a16:creationId xmlns:a16="http://schemas.microsoft.com/office/drawing/2014/main" id="{09F15A51-B1F3-4D5D-B42D-109DD4390848}"/>
                  </a:ext>
                </a:extLst>
              </p14:cNvPr>
              <p14:cNvContentPartPr/>
              <p14:nvPr/>
            </p14:nvContentPartPr>
            <p14:xfrm>
              <a:off x="4194576" y="3209040"/>
              <a:ext cx="212760" cy="1682280"/>
            </p14:xfrm>
          </p:contentPart>
        </mc:Choice>
        <mc:Fallback xmlns="">
          <p:pic>
            <p:nvPicPr>
              <p:cNvPr id="14" name="Tinta 13">
                <a:extLst>
                  <a:ext uri="{FF2B5EF4-FFF2-40B4-BE49-F238E27FC236}">
                    <a16:creationId xmlns:a16="http://schemas.microsoft.com/office/drawing/2014/main" id="{09F15A51-B1F3-4D5D-B42D-109DD43908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85576" y="3200038"/>
                <a:ext cx="230400" cy="1699924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DE93602-60FF-4193-A150-0C2E0F884B49}"/>
              </a:ext>
            </a:extLst>
          </p:cNvPr>
          <p:cNvGrpSpPr/>
          <p:nvPr/>
        </p:nvGrpSpPr>
        <p:grpSpPr>
          <a:xfrm>
            <a:off x="7405776" y="2392200"/>
            <a:ext cx="2210040" cy="1063800"/>
            <a:chOff x="7405776" y="2392200"/>
            <a:chExt cx="2210040" cy="10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EB434F1E-27F1-4461-BDED-313BEA0B32D0}"/>
                    </a:ext>
                  </a:extLst>
                </p14:cNvPr>
                <p14:cNvContentPartPr/>
                <p14:nvPr/>
              </p14:nvContentPartPr>
              <p14:xfrm>
                <a:off x="7424496" y="2392200"/>
                <a:ext cx="2191320" cy="9183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EB434F1E-27F1-4461-BDED-313BEA0B32D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15496" y="2383200"/>
                  <a:ext cx="2208960" cy="9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265B8B60-940B-4EEA-883C-0115C4DC8A53}"/>
                    </a:ext>
                  </a:extLst>
                </p14:cNvPr>
                <p14:cNvContentPartPr/>
                <p14:nvPr/>
              </p14:nvContentPartPr>
              <p14:xfrm>
                <a:off x="7405776" y="3163320"/>
                <a:ext cx="138600" cy="29268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265B8B60-940B-4EEA-883C-0115C4DC8A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96799" y="3154320"/>
                  <a:ext cx="156194" cy="310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E7A1AFE-1DDE-4DF4-A0ED-927CC63FD2E8}"/>
              </a:ext>
            </a:extLst>
          </p:cNvPr>
          <p:cNvSpPr txBox="1"/>
          <p:nvPr/>
        </p:nvSpPr>
        <p:spPr>
          <a:xfrm>
            <a:off x="9528804" y="1645349"/>
            <a:ext cx="2191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High electron density</a:t>
            </a:r>
            <a:endParaRPr lang="pt-BR" sz="320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D48C79F-F6BB-4A3C-A052-C57C0FD9E7AE}"/>
              </a:ext>
            </a:extLst>
          </p:cNvPr>
          <p:cNvSpPr txBox="1"/>
          <p:nvPr/>
        </p:nvSpPr>
        <p:spPr>
          <a:xfrm>
            <a:off x="8945132" y="4891320"/>
            <a:ext cx="2778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Not electronegative</a:t>
            </a:r>
            <a:endParaRPr lang="pt-BR" sz="2800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72CC5F9C-2A47-4519-AAF4-7751E2FE6DE7}"/>
              </a:ext>
            </a:extLst>
          </p:cNvPr>
          <p:cNvGrpSpPr/>
          <p:nvPr/>
        </p:nvGrpSpPr>
        <p:grpSpPr>
          <a:xfrm>
            <a:off x="6153696" y="4581720"/>
            <a:ext cx="2477160" cy="899280"/>
            <a:chOff x="6153696" y="4581720"/>
            <a:chExt cx="2477160" cy="89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F00D3E79-5831-4801-B31E-D8C1FF40FF1E}"/>
                    </a:ext>
                  </a:extLst>
                </p14:cNvPr>
                <p14:cNvContentPartPr/>
                <p14:nvPr/>
              </p14:nvContentPartPr>
              <p14:xfrm>
                <a:off x="6190416" y="4626720"/>
                <a:ext cx="2440440" cy="8542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F00D3E79-5831-4801-B31E-D8C1FF40FF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81416" y="4617720"/>
                  <a:ext cx="2458080" cy="87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65CB5FF9-DE6F-4F68-A2AE-B966ABA3B05A}"/>
                    </a:ext>
                  </a:extLst>
                </p14:cNvPr>
                <p14:cNvContentPartPr/>
                <p14:nvPr/>
              </p14:nvContentPartPr>
              <p14:xfrm>
                <a:off x="6153696" y="4581720"/>
                <a:ext cx="132120" cy="1270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65CB5FF9-DE6F-4F68-A2AE-B966ABA3B05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44696" y="4572720"/>
                  <a:ext cx="14976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Tinta 22">
                <a:extLst>
                  <a:ext uri="{FF2B5EF4-FFF2-40B4-BE49-F238E27FC236}">
                    <a16:creationId xmlns:a16="http://schemas.microsoft.com/office/drawing/2014/main" id="{FCF54013-E2C4-4074-9C11-4A11D6DDCC78}"/>
                  </a:ext>
                </a:extLst>
              </p14:cNvPr>
              <p14:cNvContentPartPr/>
              <p14:nvPr/>
            </p14:nvContentPartPr>
            <p14:xfrm>
              <a:off x="10634256" y="5230080"/>
              <a:ext cx="360" cy="360"/>
            </p14:xfrm>
          </p:contentPart>
        </mc:Choice>
        <mc:Fallback xmlns="">
          <p:pic>
            <p:nvPicPr>
              <p:cNvPr id="23" name="Tinta 22">
                <a:extLst>
                  <a:ext uri="{FF2B5EF4-FFF2-40B4-BE49-F238E27FC236}">
                    <a16:creationId xmlns:a16="http://schemas.microsoft.com/office/drawing/2014/main" id="{FCF54013-E2C4-4074-9C11-4A11D6DDCC7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25256" y="52210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CaixaDeTexto 29">
            <a:extLst>
              <a:ext uri="{FF2B5EF4-FFF2-40B4-BE49-F238E27FC236}">
                <a16:creationId xmlns:a16="http://schemas.microsoft.com/office/drawing/2014/main" id="{0FE46B19-757F-4A57-84F4-B9959EA7408A}"/>
              </a:ext>
            </a:extLst>
          </p:cNvPr>
          <p:cNvSpPr txBox="1"/>
          <p:nvPr/>
        </p:nvSpPr>
        <p:spPr>
          <a:xfrm>
            <a:off x="1754317" y="3504502"/>
            <a:ext cx="24402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Highly symmetrical</a:t>
            </a:r>
            <a:endParaRPr lang="pt-BR" sz="3200"/>
          </a:p>
        </p:txBody>
      </p:sp>
    </p:spTree>
    <p:extLst>
      <p:ext uri="{BB962C8B-B14F-4D97-AF65-F5344CB8AC3E}">
        <p14:creationId xmlns:p14="http://schemas.microsoft.com/office/powerpoint/2010/main" val="3484383369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C4B4A-B7F6-44CC-AA89-F79414F3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E837137-5F45-4081-9E63-0871E67F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67" y="0"/>
            <a:ext cx="11179666" cy="678168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D715407-2CDF-46A7-BF92-A20B0BE3E59C}"/>
              </a:ext>
            </a:extLst>
          </p:cNvPr>
          <p:cNvSpPr txBox="1"/>
          <p:nvPr/>
        </p:nvSpPr>
        <p:spPr>
          <a:xfrm>
            <a:off x="1176528" y="2221992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Pseudoephedrine</a:t>
            </a:r>
            <a:endParaRPr lang="pt-BR" sz="480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54448E5-FD50-4C56-A8DA-655914DD0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969" y="3386077"/>
            <a:ext cx="2203447" cy="14404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BBAE1E-CD1B-F8F4-DA7C-1D810176EB1D}"/>
              </a:ext>
            </a:extLst>
          </p:cNvPr>
          <p:cNvSpPr txBox="1"/>
          <p:nvPr/>
        </p:nvSpPr>
        <p:spPr>
          <a:xfrm>
            <a:off x="260732" y="64367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Self-made spectrum using </a:t>
            </a:r>
            <a:r>
              <a:rPr lang="en-US" dirty="0" err="1"/>
              <a:t>nmrium.com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40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flythrough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FCEE1-D386-494E-A5D6-C4B7867F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B9A7B2-06AF-4C52-94B8-24A95500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4170E7A-8591-4ECE-886B-8F3A57D80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122" y="3108611"/>
            <a:ext cx="5280653" cy="320328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01F5ADB-B58F-4CBA-81DC-919032401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95" y="3108612"/>
            <a:ext cx="5280652" cy="3203288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8ED48B2C-7D25-4B44-93A8-04EDB3E07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71" y="265176"/>
            <a:ext cx="10868334" cy="6592824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FE456F5-11FF-41E5-805E-760F268FF4CF}"/>
              </a:ext>
            </a:extLst>
          </p:cNvPr>
          <p:cNvSpPr txBox="1"/>
          <p:nvPr/>
        </p:nvSpPr>
        <p:spPr>
          <a:xfrm>
            <a:off x="8302752" y="2532888"/>
            <a:ext cx="259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d-Methamphetamine</a:t>
            </a:r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725B858-3E20-4F22-B031-52991E35A99F}"/>
              </a:ext>
            </a:extLst>
          </p:cNvPr>
          <p:cNvSpPr txBox="1"/>
          <p:nvPr/>
        </p:nvSpPr>
        <p:spPr>
          <a:xfrm>
            <a:off x="2302993" y="2606346"/>
            <a:ext cx="259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Pseudoephedrine</a:t>
            </a:r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762003F-51DF-438D-AFE2-F776F356A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761" y="725300"/>
            <a:ext cx="2953512" cy="19307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99C33F6-82D8-40BE-988C-298808978E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014350"/>
            <a:ext cx="3093518" cy="13255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5AD93569-FA51-46D5-B630-011336F8EC7B}"/>
                  </a:ext>
                </a:extLst>
              </p14:cNvPr>
              <p14:cNvContentPartPr/>
              <p14:nvPr/>
            </p14:nvContentPartPr>
            <p14:xfrm>
              <a:off x="3153096" y="1390680"/>
              <a:ext cx="221040" cy="25740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5AD93569-FA51-46D5-B630-011336F8EC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44096" y="1381680"/>
                <a:ext cx="238680" cy="27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B5AE2EA0-D169-46A8-A58C-C305B05C6ED2}"/>
              </a:ext>
            </a:extLst>
          </p:cNvPr>
          <p:cNvGrpSpPr/>
          <p:nvPr/>
        </p:nvGrpSpPr>
        <p:grpSpPr>
          <a:xfrm>
            <a:off x="3236616" y="1618200"/>
            <a:ext cx="1524240" cy="3645000"/>
            <a:chOff x="3236616" y="1618200"/>
            <a:chExt cx="1524240" cy="36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AFE5EF26-9C3E-422E-9373-86DC8DAA4E76}"/>
                    </a:ext>
                  </a:extLst>
                </p14:cNvPr>
                <p14:cNvContentPartPr/>
                <p14:nvPr/>
              </p14:nvContentPartPr>
              <p14:xfrm>
                <a:off x="3236616" y="1618200"/>
                <a:ext cx="1414080" cy="364500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AFE5EF26-9C3E-422E-9373-86DC8DAA4E7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27616" y="1609199"/>
                  <a:ext cx="1431720" cy="36626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8E32EDF4-EEB0-474F-9EA7-15847EC56F25}"/>
                    </a:ext>
                  </a:extLst>
                </p14:cNvPr>
                <p14:cNvContentPartPr/>
                <p14:nvPr/>
              </p14:nvContentPartPr>
              <p14:xfrm>
                <a:off x="4562496" y="5108760"/>
                <a:ext cx="198360" cy="1540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8E32EDF4-EEB0-474F-9EA7-15847EC56F2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53480" y="5099760"/>
                  <a:ext cx="216032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C60F8579-CF87-49C0-8271-68BAE5201CAE}"/>
                  </a:ext>
                </a:extLst>
              </p14:cNvPr>
              <p14:cNvContentPartPr/>
              <p14:nvPr/>
            </p14:nvContentPartPr>
            <p14:xfrm>
              <a:off x="9566856" y="1023120"/>
              <a:ext cx="290160" cy="20340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C60F8579-CF87-49C0-8271-68BAE5201CA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57856" y="1014120"/>
                <a:ext cx="307800" cy="22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Agrupar 28">
            <a:extLst>
              <a:ext uri="{FF2B5EF4-FFF2-40B4-BE49-F238E27FC236}">
                <a16:creationId xmlns:a16="http://schemas.microsoft.com/office/drawing/2014/main" id="{74D5F66E-0039-4CA5-A23C-DF3D625E2F45}"/>
              </a:ext>
            </a:extLst>
          </p:cNvPr>
          <p:cNvGrpSpPr/>
          <p:nvPr/>
        </p:nvGrpSpPr>
        <p:grpSpPr>
          <a:xfrm>
            <a:off x="7387776" y="1234080"/>
            <a:ext cx="2286360" cy="2891160"/>
            <a:chOff x="7387776" y="1234080"/>
            <a:chExt cx="2286360" cy="289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C7902535-03FE-4537-AB50-D79E34CBC652}"/>
                    </a:ext>
                  </a:extLst>
                </p14:cNvPr>
                <p14:cNvContentPartPr/>
                <p14:nvPr/>
              </p14:nvContentPartPr>
              <p14:xfrm>
                <a:off x="7444656" y="1234080"/>
                <a:ext cx="2229480" cy="287244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C7902535-03FE-4537-AB50-D79E34CBC65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35655" y="1225080"/>
                  <a:ext cx="2247123" cy="28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E91A5BDC-DE19-4FD5-A4AE-1DCD140AFDCA}"/>
                    </a:ext>
                  </a:extLst>
                </p14:cNvPr>
                <p14:cNvContentPartPr/>
                <p14:nvPr/>
              </p14:nvContentPartPr>
              <p14:xfrm>
                <a:off x="7387776" y="3986640"/>
                <a:ext cx="123840" cy="13860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E91A5BDC-DE19-4FD5-A4AE-1DCD140AFDC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78776" y="3977640"/>
                  <a:ext cx="141480" cy="156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3F90D7C-32B1-2985-C107-E8BAD4453C89}"/>
              </a:ext>
            </a:extLst>
          </p:cNvPr>
          <p:cNvSpPr txBox="1"/>
          <p:nvPr/>
        </p:nvSpPr>
        <p:spPr>
          <a:xfrm>
            <a:off x="260732" y="64367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Self-made spectrum using </a:t>
            </a:r>
            <a:r>
              <a:rPr lang="en-US" dirty="0" err="1"/>
              <a:t>nmrium.com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1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7B4F0-9B07-46D0-B0EC-638343E69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J-coupling (briefly)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E3B296-590C-4AB9-B259-82F2B576B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Magnetic interaction between the nuclear spins</a:t>
            </a:r>
          </a:p>
          <a:p>
            <a:r>
              <a:rPr lang="en-US"/>
              <a:t>Neighboring spins influence energy levels</a:t>
            </a:r>
          </a:p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AE5746-E111-4DC5-872D-EDEF2071A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37" y="206158"/>
            <a:ext cx="10868334" cy="659282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5163B39-E1DD-4525-9AE1-41312EF91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505" y="2325244"/>
            <a:ext cx="2953512" cy="1930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1A62959D-C926-466A-8D3B-5D598D495D88}"/>
                  </a:ext>
                </a:extLst>
              </p14:cNvPr>
              <p14:cNvContentPartPr/>
              <p14:nvPr/>
            </p14:nvContentPartPr>
            <p14:xfrm>
              <a:off x="3427056" y="3035880"/>
              <a:ext cx="176400" cy="1659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1A62959D-C926-466A-8D3B-5D598D495D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8074" y="3026880"/>
                <a:ext cx="194004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53D42B7C-AE6F-497E-933B-FB7EA0045115}"/>
              </a:ext>
            </a:extLst>
          </p:cNvPr>
          <p:cNvGrpSpPr/>
          <p:nvPr/>
        </p:nvGrpSpPr>
        <p:grpSpPr>
          <a:xfrm>
            <a:off x="3327336" y="3172680"/>
            <a:ext cx="1374480" cy="2030400"/>
            <a:chOff x="3327336" y="3172680"/>
            <a:chExt cx="1374480" cy="20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0F4CCBD1-91AB-4835-AFB0-2AD8DB55F100}"/>
                    </a:ext>
                  </a:extLst>
                </p14:cNvPr>
                <p14:cNvContentPartPr/>
                <p14:nvPr/>
              </p14:nvContentPartPr>
              <p14:xfrm>
                <a:off x="3327336" y="3172680"/>
                <a:ext cx="1252440" cy="198504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0F4CCBD1-91AB-4835-AFB0-2AD8DB55F1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18336" y="3163680"/>
                  <a:ext cx="1270080" cy="20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BA3A8B98-636A-42A7-AC8F-558C92021624}"/>
                    </a:ext>
                  </a:extLst>
                </p14:cNvPr>
                <p14:cNvContentPartPr/>
                <p14:nvPr/>
              </p14:nvContentPartPr>
              <p14:xfrm>
                <a:off x="4443696" y="5050800"/>
                <a:ext cx="258120" cy="15228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BA3A8B98-636A-42A7-AC8F-558C920216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34696" y="5041779"/>
                  <a:ext cx="275760" cy="16996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90F1C05-E1B9-E6FE-7840-7145E31601F8}"/>
              </a:ext>
            </a:extLst>
          </p:cNvPr>
          <p:cNvSpPr txBox="1"/>
          <p:nvPr/>
        </p:nvSpPr>
        <p:spPr>
          <a:xfrm>
            <a:off x="260732" y="64367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Self-made spectrum using </a:t>
            </a:r>
            <a:r>
              <a:rPr lang="en-US" dirty="0" err="1"/>
              <a:t>nmrium.com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54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F32A2-DDB0-7CF7-33D9-E55DD8B9F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AAAC4-1F8A-BAA2-D958-7B92BE3C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J-coupling (briefly)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193B43-95A4-BDF3-084B-0A90AB9A5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Magnetic interaction between the nuclear spins</a:t>
            </a:r>
          </a:p>
          <a:p>
            <a:r>
              <a:rPr lang="en-US"/>
              <a:t>Neighboring spins influence energy levels</a:t>
            </a:r>
          </a:p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BAA6578-6A79-0788-9650-2609A2CC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143092" y="-17566661"/>
            <a:ext cx="326193999" cy="25579438"/>
          </a:xfrm>
          <a:prstGeom prst="rect">
            <a:avLst/>
          </a:prstGeom>
        </p:spPr>
      </p:pic>
      <p:pic>
        <p:nvPicPr>
          <p:cNvPr id="11" name="Imagem 5">
            <a:extLst>
              <a:ext uri="{FF2B5EF4-FFF2-40B4-BE49-F238E27FC236}">
                <a16:creationId xmlns:a16="http://schemas.microsoft.com/office/drawing/2014/main" id="{00696D8F-06D3-BFC1-65EF-86CA07E60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66" y="1363710"/>
            <a:ext cx="2953512" cy="1930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Tinta 6">
                <a:extLst>
                  <a:ext uri="{FF2B5EF4-FFF2-40B4-BE49-F238E27FC236}">
                    <a16:creationId xmlns:a16="http://schemas.microsoft.com/office/drawing/2014/main" id="{8CDA5F86-7846-5E50-2B84-F5CCAB2EC142}"/>
                  </a:ext>
                </a:extLst>
              </p14:cNvPr>
              <p14:cNvContentPartPr/>
              <p14:nvPr/>
            </p14:nvContentPartPr>
            <p14:xfrm>
              <a:off x="1899942" y="2061259"/>
              <a:ext cx="176400" cy="165960"/>
            </p14:xfrm>
          </p:contentPart>
        </mc:Choice>
        <mc:Fallback xmlns="">
          <p:pic>
            <p:nvPicPr>
              <p:cNvPr id="12" name="Tinta 6">
                <a:extLst>
                  <a:ext uri="{FF2B5EF4-FFF2-40B4-BE49-F238E27FC236}">
                    <a16:creationId xmlns:a16="http://schemas.microsoft.com/office/drawing/2014/main" id="{8CDA5F86-7846-5E50-2B84-F5CCAB2EC1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0960" y="2052259"/>
                <a:ext cx="194004" cy="183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83F7CFF-24D4-57DD-D82A-5E72EB0458ED}"/>
              </a:ext>
            </a:extLst>
          </p:cNvPr>
          <p:cNvSpPr txBox="1"/>
          <p:nvPr/>
        </p:nvSpPr>
        <p:spPr>
          <a:xfrm>
            <a:off x="260732" y="64367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Self-made spectrum using </a:t>
            </a:r>
            <a:r>
              <a:rPr lang="en-US" dirty="0" err="1"/>
              <a:t>nmrium.com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963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34571-FC6C-3961-9A00-D441418F9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B275B-2DCE-6A36-C208-4C4B7AC5C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115"/>
            <a:ext cx="10515600" cy="1325563"/>
          </a:xfrm>
        </p:spPr>
        <p:txBody>
          <a:bodyPr/>
          <a:lstStyle/>
          <a:p>
            <a:r>
              <a:rPr lang="en-US" dirty="0"/>
              <a:t>J-coupling (briefly)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14577F3-C1F8-F3DB-234E-61CDAF55A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66" y="1363710"/>
            <a:ext cx="2953512" cy="1930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C6BA3ACB-0188-623F-1B5C-D908CAFD9097}"/>
                  </a:ext>
                </a:extLst>
              </p14:cNvPr>
              <p14:cNvContentPartPr/>
              <p14:nvPr/>
            </p14:nvContentPartPr>
            <p14:xfrm>
              <a:off x="1899942" y="2061259"/>
              <a:ext cx="176400" cy="1659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C6BA3ACB-0188-623F-1B5C-D908CAFD90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0960" y="2052259"/>
                <a:ext cx="194004" cy="183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6" descr="A graph of a red line&#10;&#10;AI-generated content may be incorrect.">
            <a:extLst>
              <a:ext uri="{FF2B5EF4-FFF2-40B4-BE49-F238E27FC236}">
                <a16:creationId xmlns:a16="http://schemas.microsoft.com/office/drawing/2014/main" id="{D333C257-F352-38A5-2469-E7B669ED0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536" y="1131216"/>
            <a:ext cx="8364188" cy="53616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B27AE4-E0EC-18A3-A275-11296E88C630}"/>
              </a:ext>
            </a:extLst>
          </p:cNvPr>
          <p:cNvSpPr txBox="1"/>
          <p:nvPr/>
        </p:nvSpPr>
        <p:spPr>
          <a:xfrm>
            <a:off x="260732" y="64367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Self-made spectrum using </a:t>
            </a:r>
            <a:r>
              <a:rPr lang="en-US" dirty="0" err="1"/>
              <a:t>nmrium.com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4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1D8C9-31A8-F6AB-9E17-891FAE28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Applications</a:t>
            </a:r>
            <a:endParaRPr lang="pt-BR" dirty="0"/>
          </a:p>
        </p:txBody>
      </p:sp>
      <p:pic>
        <p:nvPicPr>
          <p:cNvPr id="5" name="Espaço Reservado para Conteúdo 4" descr="Foto preta e branca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7258CD7D-AF9D-09C9-3A47-C72C691BF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30331" y="113886"/>
            <a:ext cx="4351338" cy="435133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268AA67-1861-ADA6-C760-C30F9797CDDE}"/>
              </a:ext>
            </a:extLst>
          </p:cNvPr>
          <p:cNvSpPr txBox="1"/>
          <p:nvPr/>
        </p:nvSpPr>
        <p:spPr>
          <a:xfrm>
            <a:off x="194128" y="2289555"/>
            <a:ext cx="6350107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/>
              <a:t>MRI (</a:t>
            </a:r>
            <a:r>
              <a:rPr lang="pt-BR" sz="3200" dirty="0" err="1"/>
              <a:t>Magnetic</a:t>
            </a:r>
            <a:r>
              <a:rPr lang="pt-BR" sz="3200" dirty="0"/>
              <a:t> </a:t>
            </a:r>
            <a:r>
              <a:rPr lang="pt-BR" sz="3200" dirty="0" err="1"/>
              <a:t>Resonance</a:t>
            </a:r>
            <a:r>
              <a:rPr lang="pt-BR" sz="3200" dirty="0"/>
              <a:t> Imaging) </a:t>
            </a:r>
            <a:endParaRPr lang="pt-BR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E48D59-A75A-C314-BCDC-E40A520645DC}"/>
              </a:ext>
            </a:extLst>
          </p:cNvPr>
          <p:cNvSpPr txBox="1"/>
          <p:nvPr/>
        </p:nvSpPr>
        <p:spPr>
          <a:xfrm>
            <a:off x="3065701" y="3821928"/>
            <a:ext cx="435133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 err="1"/>
              <a:t>Same</a:t>
            </a:r>
            <a:r>
              <a:rPr lang="pt-BR" sz="3200" dirty="0"/>
              <a:t> </a:t>
            </a:r>
            <a:r>
              <a:rPr lang="pt-BR" sz="3200" dirty="0" err="1"/>
              <a:t>principle</a:t>
            </a:r>
            <a:r>
              <a:rPr lang="pt-BR" sz="3200" dirty="0"/>
              <a:t> as NMR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E0AFA27-F297-7D95-DC9D-A9376C92B8D0}"/>
              </a:ext>
            </a:extLst>
          </p:cNvPr>
          <p:cNvSpPr txBox="1"/>
          <p:nvPr/>
        </p:nvSpPr>
        <p:spPr>
          <a:xfrm>
            <a:off x="4542108" y="5529326"/>
            <a:ext cx="524735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dirty="0"/>
              <a:t>Most </a:t>
            </a:r>
            <a:r>
              <a:rPr lang="pt-BR" sz="3200" dirty="0" err="1"/>
              <a:t>active</a:t>
            </a:r>
            <a:r>
              <a:rPr lang="pt-BR" sz="3200" dirty="0"/>
              <a:t> </a:t>
            </a:r>
            <a:r>
              <a:rPr lang="pt-BR" sz="3200" dirty="0" err="1"/>
              <a:t>nucleus</a:t>
            </a:r>
            <a:r>
              <a:rPr lang="pt-BR" sz="3200" dirty="0"/>
              <a:t> </a:t>
            </a:r>
            <a:r>
              <a:rPr lang="pt-BR" sz="3200" dirty="0" err="1"/>
              <a:t>is</a:t>
            </a:r>
            <a:r>
              <a:rPr lang="pt-BR" sz="3200" dirty="0"/>
              <a:t> </a:t>
            </a:r>
            <a:r>
              <a:rPr lang="pt-BR" sz="3200" dirty="0" err="1"/>
              <a:t>water</a:t>
            </a:r>
            <a:r>
              <a:rPr lang="pt-BR" sz="3200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00427B-1AC6-4DF9-AE97-A7547FA0212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" y="4489012"/>
            <a:ext cx="2368988" cy="2368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6199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9ADA5D-AAF7-4304-B3AC-E0D21A82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How it works</a:t>
            </a:r>
            <a:endParaRPr lang="pt-BR" sz="540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3528F6-6782-48DE-8A77-FF332F2EF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33485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Quite a strong magnetic field is established along the scanner.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Nuclei </a:t>
            </a:r>
            <a:r>
              <a:rPr lang="en-US" sz="2000" dirty="0" err="1"/>
              <a:t>precess</a:t>
            </a:r>
            <a:r>
              <a:rPr lang="en-US" sz="2000" dirty="0"/>
              <a:t> around z-axis.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RF pulse is sent through, causing net magnetization to tip.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Precess</a:t>
            </a:r>
            <a:r>
              <a:rPr lang="en-US" sz="2000" dirty="0"/>
              <a:t> back to original magnetization </a:t>
            </a:r>
          </a:p>
          <a:p>
            <a:pPr marL="0" indent="0">
              <a:buNone/>
            </a:pPr>
            <a:endParaRPr lang="pt-BR" sz="2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B8472DF-ABC1-4F6E-9099-68E54C9F6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334" y="2736217"/>
            <a:ext cx="3362083" cy="339724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F9A2F6A-B3A3-4A53-8583-BB9DBBED4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474" y="561149"/>
            <a:ext cx="2982310" cy="21750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7520B2A2-1CB6-4A03-9E34-F4F3AABAC4A3}"/>
                  </a:ext>
                </a:extLst>
              </p14:cNvPr>
              <p14:cNvContentPartPr/>
              <p14:nvPr/>
            </p14:nvContentPartPr>
            <p14:xfrm>
              <a:off x="8542835" y="2569953"/>
              <a:ext cx="411120" cy="670320"/>
            </p14:xfrm>
          </p:contentPart>
        </mc:Choice>
        <mc:Fallback xmlns=""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7520B2A2-1CB6-4A03-9E34-F4F3AABAC4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3835" y="2560953"/>
                <a:ext cx="428760" cy="68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EF8CE513-310E-4766-BC37-E1B60BCBFE64}"/>
                  </a:ext>
                </a:extLst>
              </p14:cNvPr>
              <p14:cNvContentPartPr/>
              <p14:nvPr/>
            </p14:nvContentPartPr>
            <p14:xfrm>
              <a:off x="8430515" y="2441073"/>
              <a:ext cx="180720" cy="27360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EF8CE513-310E-4766-BC37-E1B60BCBFE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21515" y="2432073"/>
                <a:ext cx="198360" cy="2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993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5A653-5EEB-4329-BECC-62A317D1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it differs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022E8F-94D6-481F-BACF-D02F8B2B0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560" y="3214085"/>
            <a:ext cx="4563121" cy="106139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6000"/>
              <a:t>Gradient Coils</a:t>
            </a:r>
            <a:endParaRPr lang="pt-BR" sz="60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2AA7511-F4AC-42B4-BF87-746CE75D2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852" y="1685260"/>
            <a:ext cx="4476023" cy="4119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Agrupar 16">
            <a:extLst>
              <a:ext uri="{FF2B5EF4-FFF2-40B4-BE49-F238E27FC236}">
                <a16:creationId xmlns:a16="http://schemas.microsoft.com/office/drawing/2014/main" id="{2C3DD203-AAA7-4364-B12E-22146FB7A6D3}"/>
              </a:ext>
            </a:extLst>
          </p:cNvPr>
          <p:cNvGrpSpPr/>
          <p:nvPr/>
        </p:nvGrpSpPr>
        <p:grpSpPr>
          <a:xfrm>
            <a:off x="3722543" y="4212157"/>
            <a:ext cx="1634400" cy="375480"/>
            <a:chOff x="3781583" y="4569983"/>
            <a:chExt cx="1634400" cy="3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C07E6127-9B63-4B34-ABFE-ABE8F8C21F34}"/>
                    </a:ext>
                  </a:extLst>
                </p14:cNvPr>
                <p14:cNvContentPartPr/>
                <p14:nvPr/>
              </p14:nvContentPartPr>
              <p14:xfrm>
                <a:off x="3781583" y="4581863"/>
                <a:ext cx="1634040" cy="36360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C07E6127-9B63-4B34-ABFE-ABE8F8C21F3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2585" y="4572872"/>
                  <a:ext cx="1651676" cy="3812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643BFC53-88C8-4891-B373-4642FA5F925D}"/>
                    </a:ext>
                  </a:extLst>
                </p14:cNvPr>
                <p14:cNvContentPartPr/>
                <p14:nvPr/>
              </p14:nvContentPartPr>
              <p14:xfrm>
                <a:off x="5299343" y="4569983"/>
                <a:ext cx="116640" cy="14544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643BFC53-88C8-4891-B373-4642FA5F92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90343" y="4560983"/>
                  <a:ext cx="13428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1951FDA-22F1-40E4-A1AE-AD68E96C9C8C}"/>
              </a:ext>
            </a:extLst>
          </p:cNvPr>
          <p:cNvGrpSpPr/>
          <p:nvPr/>
        </p:nvGrpSpPr>
        <p:grpSpPr>
          <a:xfrm>
            <a:off x="3613103" y="2688983"/>
            <a:ext cx="1861200" cy="400680"/>
            <a:chOff x="3613103" y="2688983"/>
            <a:chExt cx="186120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E52E8570-67E0-420B-9D2E-978B421D84F1}"/>
                    </a:ext>
                  </a:extLst>
                </p14:cNvPr>
                <p14:cNvContentPartPr/>
                <p14:nvPr/>
              </p14:nvContentPartPr>
              <p14:xfrm>
                <a:off x="3613103" y="2688983"/>
                <a:ext cx="1834920" cy="40068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E52E8570-67E0-420B-9D2E-978B421D84F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04103" y="2679975"/>
                  <a:ext cx="1852560" cy="4183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EF7D4166-6FDE-4E2E-990E-AA0427B4A564}"/>
                    </a:ext>
                  </a:extLst>
                </p14:cNvPr>
                <p14:cNvContentPartPr/>
                <p14:nvPr/>
              </p14:nvContentPartPr>
              <p14:xfrm>
                <a:off x="5356943" y="2831543"/>
                <a:ext cx="117360" cy="17280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EF7D4166-6FDE-4E2E-990E-AA0427B4A56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47943" y="2822543"/>
                  <a:ext cx="135000" cy="19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56205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21A94-72E3-4FB7-88CF-845449EA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Tumors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09392A-2D40-4EE7-B3CC-54778F186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21" y="1473693"/>
            <a:ext cx="5671548" cy="4492958"/>
          </a:xfrm>
        </p:spPr>
        <p:txBody>
          <a:bodyPr/>
          <a:lstStyle/>
          <a:p>
            <a:r>
              <a:rPr lang="en-US" sz="3600"/>
              <a:t>Vary in relaxation times, unique signals</a:t>
            </a:r>
          </a:p>
          <a:p>
            <a:pPr lvl="1"/>
            <a:r>
              <a:rPr lang="en-US" sz="3200"/>
              <a:t>Microenvironments</a:t>
            </a:r>
          </a:p>
          <a:p>
            <a:pPr lvl="1"/>
            <a:r>
              <a:rPr lang="en-US" sz="3200"/>
              <a:t>Depending on MRI can show up differently. </a:t>
            </a:r>
          </a:p>
          <a:p>
            <a:r>
              <a:rPr lang="en-US" sz="3600"/>
              <a:t>Both malignant and benign tumors</a:t>
            </a:r>
          </a:p>
          <a:p>
            <a:pPr marL="0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3074" name="Picture 2" descr="Examples of brain tumors from the raw MRI volumes collected in this... |  Download Scientific Diagram">
            <a:extLst>
              <a:ext uri="{FF2B5EF4-FFF2-40B4-BE49-F238E27FC236}">
                <a16:creationId xmlns:a16="http://schemas.microsoft.com/office/drawing/2014/main" id="{6F6AD32F-5F20-4748-9B7C-3A9BE1905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540" y="0"/>
            <a:ext cx="53832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70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1B918-1B4D-4326-99EE-FE524ECE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Nobels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FE8BB1-9FE4-4632-B325-C47AC26CE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096" y="1758156"/>
            <a:ext cx="1274064" cy="128333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/>
              <a:t>1944</a:t>
            </a:r>
          </a:p>
          <a:p>
            <a:pPr marL="0" indent="0">
              <a:buNone/>
            </a:pPr>
            <a:r>
              <a:rPr lang="en-US" sz="3600"/>
              <a:t>Rabi</a:t>
            </a:r>
          </a:p>
          <a:p>
            <a:pPr marL="0" indent="0">
              <a:buNone/>
            </a:pPr>
            <a:r>
              <a:rPr lang="en-US" sz="3600"/>
              <a:t>Physics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63D56257-9266-4ACC-A25B-480E00472EAE}"/>
              </a:ext>
            </a:extLst>
          </p:cNvPr>
          <p:cNvSpPr/>
          <p:nvPr/>
        </p:nvSpPr>
        <p:spPr>
          <a:xfrm>
            <a:off x="111252" y="3108960"/>
            <a:ext cx="11969496" cy="5577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7B3B27C4-F6A3-4D0A-B0F5-D3AA3DFE831E}"/>
              </a:ext>
            </a:extLst>
          </p:cNvPr>
          <p:cNvSpPr txBox="1">
            <a:spLocks/>
          </p:cNvSpPr>
          <p:nvPr/>
        </p:nvSpPr>
        <p:spPr>
          <a:xfrm>
            <a:off x="3368040" y="3858768"/>
            <a:ext cx="1490472" cy="15648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1952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Bloch and Purcell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Physics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698D666-6FE6-4357-B8B1-5531F0220D08}"/>
              </a:ext>
            </a:extLst>
          </p:cNvPr>
          <p:cNvSpPr txBox="1">
            <a:spLocks/>
          </p:cNvSpPr>
          <p:nvPr/>
        </p:nvSpPr>
        <p:spPr>
          <a:xfrm>
            <a:off x="6004560" y="1586292"/>
            <a:ext cx="1459992" cy="1450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1991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Ernst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Chemistry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8FF3223-8227-4206-B5E8-C027A13541A6}"/>
              </a:ext>
            </a:extLst>
          </p:cNvPr>
          <p:cNvSpPr txBox="1">
            <a:spLocks/>
          </p:cNvSpPr>
          <p:nvPr/>
        </p:nvSpPr>
        <p:spPr>
          <a:xfrm>
            <a:off x="8762266" y="3666744"/>
            <a:ext cx="1692054" cy="1450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2003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Lauterbur and Mansfield</a:t>
            </a:r>
          </a:p>
          <a:p>
            <a:pPr marL="0" indent="0">
              <a:buNone/>
            </a:pPr>
            <a:r>
              <a:rPr lang="en-US" sz="2200"/>
              <a:t>Physiology and medicine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3C3E0B60-0C3E-499B-9D70-67089134F8B5}"/>
              </a:ext>
            </a:extLst>
          </p:cNvPr>
          <p:cNvSpPr txBox="1">
            <a:spLocks/>
          </p:cNvSpPr>
          <p:nvPr/>
        </p:nvSpPr>
        <p:spPr>
          <a:xfrm>
            <a:off x="310896" y="4000055"/>
            <a:ext cx="1274064" cy="12833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/>
              <a:t>1943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/>
              <a:t>Stern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600"/>
              <a:t>Physics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AC29499-7BE8-46D1-9FE5-EA01F51B0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004" y="4000055"/>
            <a:ext cx="854156" cy="1209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F310C046-07C4-4C69-BF66-7CE84E9ED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741" y="1602644"/>
            <a:ext cx="945514" cy="1418272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00608F95-A4D3-4B22-8FF3-97403EFEE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848" y="3973743"/>
            <a:ext cx="942712" cy="133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CF60C17A-2C52-4B4F-A75C-A81926473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42" y="3973743"/>
            <a:ext cx="942712" cy="133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2E4B7EE8-4EEE-44E1-A6CE-D84A05ADE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552" y="1498653"/>
            <a:ext cx="929738" cy="1413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6E82519-828A-4F2F-A9CD-9079AF85CC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7657" y="4000055"/>
            <a:ext cx="910678" cy="137454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07CFDA6-7FDF-4CEC-A151-1048A0F680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2133" y="4000055"/>
            <a:ext cx="893266" cy="133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53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93BB21-5762-3BE3-2108-D22C5E437F9F}"/>
              </a:ext>
            </a:extLst>
          </p:cNvPr>
          <p:cNvSpPr txBox="1"/>
          <p:nvPr/>
        </p:nvSpPr>
        <p:spPr>
          <a:xfrm>
            <a:off x="73503" y="1157213"/>
            <a:ext cx="61326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Quantum Physics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BA541-82DA-F6BB-5669-E937161BC1BE}"/>
              </a:ext>
            </a:extLst>
          </p:cNvPr>
          <p:cNvSpPr txBox="1"/>
          <p:nvPr/>
        </p:nvSpPr>
        <p:spPr>
          <a:xfrm>
            <a:off x="-247831" y="3256323"/>
            <a:ext cx="3264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Math</a:t>
            </a:r>
            <a:endParaRPr lang="en-US" sz="6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F3C25-31C9-4BBD-B33B-5CA8CE0DC594}"/>
              </a:ext>
            </a:extLst>
          </p:cNvPr>
          <p:cNvSpPr txBox="1"/>
          <p:nvPr/>
        </p:nvSpPr>
        <p:spPr>
          <a:xfrm>
            <a:off x="8781264" y="1809243"/>
            <a:ext cx="3264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Medicine</a:t>
            </a:r>
            <a:endParaRPr lang="en-US" sz="66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98B543-0EA6-FFE4-0FEB-611EE3A1EDB9}"/>
              </a:ext>
            </a:extLst>
          </p:cNvPr>
          <p:cNvSpPr txBox="1"/>
          <p:nvPr/>
        </p:nvSpPr>
        <p:spPr>
          <a:xfrm>
            <a:off x="4463969" y="2626306"/>
            <a:ext cx="3264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Chemistry</a:t>
            </a:r>
            <a:endParaRPr lang="en-US" sz="6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6DC132-8CD1-FD80-D36E-CB504B6A64C4}"/>
              </a:ext>
            </a:extLst>
          </p:cNvPr>
          <p:cNvSpPr txBox="1"/>
          <p:nvPr/>
        </p:nvSpPr>
        <p:spPr>
          <a:xfrm>
            <a:off x="8833410" y="5061720"/>
            <a:ext cx="32640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Computer Science</a:t>
            </a:r>
            <a:endParaRPr lang="en-US" sz="6600"/>
          </a:p>
        </p:txBody>
      </p:sp>
      <p:pic>
        <p:nvPicPr>
          <p:cNvPr id="12" name="Picture 2" descr="Atomic nucleus - Wikipedia">
            <a:extLst>
              <a:ext uri="{FF2B5EF4-FFF2-40B4-BE49-F238E27FC236}">
                <a16:creationId xmlns:a16="http://schemas.microsoft.com/office/drawing/2014/main" id="{3C3746E0-4AC7-2CCF-23A8-29A289BEA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388" y="3692597"/>
            <a:ext cx="1642111" cy="164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E21B86CC-DF70-C455-2590-DF319BC27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9250" y="2856998"/>
            <a:ext cx="2305295" cy="212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7650D5-1BA4-B5FB-558C-2CDBBA333303}"/>
              </a:ext>
            </a:extLst>
          </p:cNvPr>
          <p:cNvSpPr txBox="1"/>
          <p:nvPr/>
        </p:nvSpPr>
        <p:spPr>
          <a:xfrm>
            <a:off x="4780077" y="5667875"/>
            <a:ext cx="32640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/>
              <a:t>Engineering</a:t>
            </a:r>
            <a:endParaRPr lang="en-US" sz="6600"/>
          </a:p>
        </p:txBody>
      </p:sp>
      <p:pic>
        <p:nvPicPr>
          <p:cNvPr id="15" name="Espaço Reservado para Conteúdo 4" descr="Foto preta e branca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73313D9E-57BB-B6A0-48C6-BF4793E65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182335" y="1157213"/>
            <a:ext cx="1723606" cy="1723606"/>
          </a:xfrm>
          <a:prstGeom prst="rect">
            <a:avLst/>
          </a:prstGeom>
        </p:spPr>
      </p:pic>
      <p:pic>
        <p:nvPicPr>
          <p:cNvPr id="16" name="Picture 2" descr="Electromagnetic Waves - Labster">
            <a:extLst>
              <a:ext uri="{FF2B5EF4-FFF2-40B4-BE49-F238E27FC236}">
                <a16:creationId xmlns:a16="http://schemas.microsoft.com/office/drawing/2014/main" id="{E9B7CBC3-A7E5-B5C1-EEB6-DDA6681A7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04" b="91597" l="9766" r="91797">
                        <a14:foregroundMark x1="76172" y1="91036" x2="72461" y2="91597"/>
                        <a14:foregroundMark x1="90039" y1="82073" x2="83594" y2="77591"/>
                        <a14:foregroundMark x1="83594" y1="77591" x2="83398" y2="76751"/>
                        <a14:foregroundMark x1="82031" y1="75070" x2="89258" y2="78431"/>
                        <a14:foregroundMark x1="89258" y1="78431" x2="91797" y2="82633"/>
                        <a14:foregroundMark x1="87500" y1="84594" x2="90430" y2="85154"/>
                        <a14:foregroundMark x1="89648" y1="78151" x2="90820" y2="83754"/>
                        <a14:foregroundMark x1="9766" y1="29132" x2="14063" y2="29692"/>
                        <a14:foregroundMark x1="21484" y1="18207" x2="54297" y2="18487"/>
                        <a14:foregroundMark x1="54297" y1="18487" x2="61719" y2="16807"/>
                        <a14:foregroundMark x1="61719" y1="16807" x2="26758" y2="15406"/>
                        <a14:foregroundMark x1="26758" y1="15406" x2="53516" y2="18768"/>
                        <a14:foregroundMark x1="53516" y1="18768" x2="45703" y2="16527"/>
                        <a14:foregroundMark x1="45703" y1="16527" x2="37891" y2="18207"/>
                        <a14:foregroundMark x1="37891" y1="18207" x2="30469" y2="15966"/>
                        <a14:foregroundMark x1="30469" y1="15966" x2="28906" y2="17087"/>
                        <a14:foregroundMark x1="59961" y1="10364" x2="61328" y2="21008"/>
                        <a14:foregroundMark x1="61328" y1="21008" x2="25586" y2="19048"/>
                        <a14:foregroundMark x1="25586" y1="19048" x2="32031" y2="12045"/>
                        <a14:foregroundMark x1="32031" y1="12045" x2="59766" y2="12605"/>
                        <a14:foregroundMark x1="59766" y1="12605" x2="50000" y2="22129"/>
                        <a14:foregroundMark x1="50000" y1="22129" x2="30859" y2="26331"/>
                        <a14:foregroundMark x1="30859" y1="26331" x2="29688" y2="14286"/>
                        <a14:foregroundMark x1="29688" y1="14286" x2="29688" y2="14286"/>
                        <a14:foregroundMark x1="22266" y1="14006" x2="47070" y2="17367"/>
                        <a14:foregroundMark x1="59375" y1="16807" x2="60352" y2="21849"/>
                        <a14:foregroundMark x1="62305" y1="11204" x2="62305" y2="16527"/>
                        <a14:foregroundMark x1="61328" y1="19888" x2="64258" y2="18207"/>
                        <a14:foregroundMark x1="58789" y1="34174" x2="67969" y2="34454"/>
                        <a14:foregroundMark x1="67969" y1="34454" x2="83594" y2="33333"/>
                        <a14:foregroundMark x1="57617" y1="36415" x2="77148" y2="36695"/>
                        <a14:foregroundMark x1="77148" y1="36695" x2="84570" y2="35854"/>
                        <a14:foregroundMark x1="84570" y1="35854" x2="77539" y2="32213"/>
                        <a14:foregroundMark x1="77539" y1="32213" x2="60156" y2="32213"/>
                        <a14:foregroundMark x1="60156" y1="32213" x2="67383" y2="36134"/>
                        <a14:foregroundMark x1="67383" y1="36134" x2="77344" y2="36695"/>
                        <a14:foregroundMark x1="68164" y1="39776" x2="68750" y2="50420"/>
                        <a14:foregroundMark x1="68750" y1="50420" x2="68750" y2="50420"/>
                        <a14:foregroundMark x1="68945" y1="50140" x2="72070" y2="48459"/>
                        <a14:foregroundMark x1="81445" y1="31373" x2="83008" y2="40336"/>
                        <a14:backgroundMark x1="85938" y1="70868" x2="93164" y2="72269"/>
                        <a14:backgroundMark x1="93164" y1="72269" x2="93359" y2="725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049" y="1796280"/>
            <a:ext cx="3042509" cy="212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DD374E-68D2-4BE1-82F2-4BEE5EC295A8}"/>
              </a:ext>
            </a:extLst>
          </p:cNvPr>
          <p:cNvSpPr txBox="1"/>
          <p:nvPr/>
        </p:nvSpPr>
        <p:spPr>
          <a:xfrm>
            <a:off x="1386066" y="141886"/>
            <a:ext cx="9748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/>
              <a:t>Good Science: it takes a village 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F5264E1-F26B-296E-22F9-DDB73065B5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223" b="-1"/>
          <a:stretch>
            <a:fillRect/>
          </a:stretch>
        </p:blipFill>
        <p:spPr>
          <a:xfrm>
            <a:off x="413823" y="4329816"/>
            <a:ext cx="4366254" cy="2051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113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8A60D-E2C1-E653-B860-0C80A371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Bar Magnet: Over 2,560 Royalty-Free Licensable Stock Illustrations &amp;  Drawings | Shutterstock">
            <a:extLst>
              <a:ext uri="{FF2B5EF4-FFF2-40B4-BE49-F238E27FC236}">
                <a16:creationId xmlns:a16="http://schemas.microsoft.com/office/drawing/2014/main" id="{82B38CA7-E19C-44CC-8042-E4B7F40C2E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2" r="34824"/>
          <a:stretch>
            <a:fillRect/>
          </a:stretch>
        </p:blipFill>
        <p:spPr bwMode="auto">
          <a:xfrm rot="12182567">
            <a:off x="11025906" y="2309104"/>
            <a:ext cx="655788" cy="227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A566F-A3C2-3017-1082-1C4977136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459"/>
            <a:ext cx="10515600" cy="426308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5400"/>
              <a:t>Fourier Transform-Based Nuclear Magnetic Resonance Spectroscopy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7F07838-93AC-B0A3-AB8D-DBD9C376A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6428" b="6428"/>
          <a:stretch/>
        </p:blipFill>
        <p:spPr bwMode="auto">
          <a:xfrm>
            <a:off x="3075441" y="207961"/>
            <a:ext cx="2815864" cy="1840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lectromagnetic Waves - Labster">
            <a:extLst>
              <a:ext uri="{FF2B5EF4-FFF2-40B4-BE49-F238E27FC236}">
                <a16:creationId xmlns:a16="http://schemas.microsoft.com/office/drawing/2014/main" id="{18EE5DE0-ECA6-905D-4418-434343516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04" b="91597" l="9766" r="91797">
                        <a14:foregroundMark x1="76172" y1="91036" x2="72461" y2="91597"/>
                        <a14:foregroundMark x1="90039" y1="82073" x2="83594" y2="77591"/>
                        <a14:foregroundMark x1="83594" y1="77591" x2="83398" y2="76751"/>
                        <a14:foregroundMark x1="82031" y1="75070" x2="89258" y2="78431"/>
                        <a14:foregroundMark x1="89258" y1="78431" x2="91797" y2="82633"/>
                        <a14:foregroundMark x1="87500" y1="84594" x2="90430" y2="85154"/>
                        <a14:foregroundMark x1="89648" y1="78151" x2="90820" y2="83754"/>
                        <a14:foregroundMark x1="9766" y1="29132" x2="14063" y2="29692"/>
                        <a14:foregroundMark x1="21484" y1="18207" x2="54297" y2="18487"/>
                        <a14:foregroundMark x1="54297" y1="18487" x2="61719" y2="16807"/>
                        <a14:foregroundMark x1="61719" y1="16807" x2="26758" y2="15406"/>
                        <a14:foregroundMark x1="26758" y1="15406" x2="53516" y2="18768"/>
                        <a14:foregroundMark x1="53516" y1="18768" x2="45703" y2="16527"/>
                        <a14:foregroundMark x1="45703" y1="16527" x2="37891" y2="18207"/>
                        <a14:foregroundMark x1="37891" y1="18207" x2="30469" y2="15966"/>
                        <a14:foregroundMark x1="30469" y1="15966" x2="28906" y2="17087"/>
                        <a14:foregroundMark x1="59961" y1="10364" x2="61328" y2="21008"/>
                        <a14:foregroundMark x1="61328" y1="21008" x2="25586" y2="19048"/>
                        <a14:foregroundMark x1="25586" y1="19048" x2="32031" y2="12045"/>
                        <a14:foregroundMark x1="32031" y1="12045" x2="59766" y2="12605"/>
                        <a14:foregroundMark x1="59766" y1="12605" x2="50000" y2="22129"/>
                        <a14:foregroundMark x1="50000" y1="22129" x2="30859" y2="26331"/>
                        <a14:foregroundMark x1="30859" y1="26331" x2="29688" y2="14286"/>
                        <a14:foregroundMark x1="29688" y1="14286" x2="29688" y2="14286"/>
                        <a14:foregroundMark x1="22266" y1="14006" x2="47070" y2="17367"/>
                        <a14:foregroundMark x1="59375" y1="16807" x2="60352" y2="21849"/>
                        <a14:foregroundMark x1="62305" y1="11204" x2="62305" y2="16527"/>
                        <a14:foregroundMark x1="61328" y1="19888" x2="64258" y2="18207"/>
                        <a14:foregroundMark x1="58789" y1="34174" x2="67969" y2="34454"/>
                        <a14:foregroundMark x1="67969" y1="34454" x2="83594" y2="33333"/>
                        <a14:foregroundMark x1="57617" y1="36415" x2="77148" y2="36695"/>
                        <a14:foregroundMark x1="77148" y1="36695" x2="84570" y2="35854"/>
                        <a14:foregroundMark x1="84570" y1="35854" x2="77539" y2="32213"/>
                        <a14:foregroundMark x1="77539" y1="32213" x2="60156" y2="32213"/>
                        <a14:foregroundMark x1="60156" y1="32213" x2="67383" y2="36134"/>
                        <a14:foregroundMark x1="67383" y1="36134" x2="77344" y2="36695"/>
                        <a14:foregroundMark x1="68164" y1="39776" x2="68750" y2="50420"/>
                        <a14:foregroundMark x1="68750" y1="50420" x2="68750" y2="50420"/>
                        <a14:foregroundMark x1="68945" y1="50140" x2="72070" y2="48459"/>
                        <a14:foregroundMark x1="81445" y1="31373" x2="83008" y2="40336"/>
                        <a14:backgroundMark x1="85938" y1="70868" x2="93164" y2="72269"/>
                        <a14:backgroundMark x1="93164" y1="72269" x2="93359" y2="725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962"/>
            <a:ext cx="3200400" cy="223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close-up of a microscope&#10;&#10;AI-generated content may be incorrect.">
            <a:extLst>
              <a:ext uri="{FF2B5EF4-FFF2-40B4-BE49-F238E27FC236}">
                <a16:creationId xmlns:a16="http://schemas.microsoft.com/office/drawing/2014/main" id="{F66589AF-6F3C-BE74-E5E5-265D981A94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562" r="50502" b="13555"/>
          <a:stretch>
            <a:fillRect/>
          </a:stretch>
        </p:blipFill>
        <p:spPr>
          <a:xfrm rot="16200000">
            <a:off x="7916306" y="108236"/>
            <a:ext cx="2196712" cy="2153611"/>
          </a:xfrm>
          <a:prstGeom prst="rect">
            <a:avLst/>
          </a:prstGeom>
        </p:spPr>
      </p:pic>
      <p:pic>
        <p:nvPicPr>
          <p:cNvPr id="4" name="Picture 3" descr="A close-up of a microscope&#10;&#10;AI-generated content may be incorrect.">
            <a:extLst>
              <a:ext uri="{FF2B5EF4-FFF2-40B4-BE49-F238E27FC236}">
                <a16:creationId xmlns:a16="http://schemas.microsoft.com/office/drawing/2014/main" id="{40FEC002-0D7D-C114-3114-A58406BE1F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976" t="8766" r="1526" b="12686"/>
          <a:stretch>
            <a:fillRect/>
          </a:stretch>
        </p:blipFill>
        <p:spPr>
          <a:xfrm rot="5400000">
            <a:off x="10052236" y="125916"/>
            <a:ext cx="2178995" cy="2100533"/>
          </a:xfrm>
          <a:prstGeom prst="rect">
            <a:avLst/>
          </a:prstGeom>
        </p:spPr>
      </p:pic>
      <p:pic>
        <p:nvPicPr>
          <p:cNvPr id="15" name="Picture 2" descr="Atomic nucleus - Wikipedia">
            <a:extLst>
              <a:ext uri="{FF2B5EF4-FFF2-40B4-BE49-F238E27FC236}">
                <a16:creationId xmlns:a16="http://schemas.microsoft.com/office/drawing/2014/main" id="{06259E34-19A0-FCCC-3D3C-FFD3DE685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87" y="3179217"/>
            <a:ext cx="939069" cy="93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Espaço Reservado para Conteúdo 4" descr="Foto preta e branca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1A234598-2A0D-E469-4F31-594EBC5710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0330" y="205501"/>
            <a:ext cx="1845304" cy="1845304"/>
          </a:xfrm>
          <a:prstGeom prst="rect">
            <a:avLst/>
          </a:prstGeom>
        </p:spPr>
      </p:pic>
      <p:pic>
        <p:nvPicPr>
          <p:cNvPr id="17" name="Picture 16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706BD05C-A41E-5E1B-5FFE-E259C37738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509" y="4691312"/>
            <a:ext cx="1330859" cy="1996289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B508D217-AE80-D0AA-B34E-EEE0C2373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530" y="4714573"/>
            <a:ext cx="1409809" cy="199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899927A3-9EE0-D35A-27CC-1EA88083C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/>
          <a:srcRect/>
          <a:stretch/>
        </p:blipFill>
        <p:spPr bwMode="auto">
          <a:xfrm>
            <a:off x="4441501" y="4727706"/>
            <a:ext cx="1313348" cy="197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D7DE8AC-1B7C-7AC0-6789-F1F006F9E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011" y="4729029"/>
            <a:ext cx="1389390" cy="196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6124E5D8-72C9-B736-CA28-5C82871B9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563" y="4714573"/>
            <a:ext cx="1409808" cy="199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4317DA3F-C326-DB86-4852-1FAF9A1385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6" r="25796" b="38345"/>
          <a:stretch>
            <a:fillRect/>
          </a:stretch>
        </p:blipFill>
        <p:spPr bwMode="auto">
          <a:xfrm>
            <a:off x="10699532" y="4729029"/>
            <a:ext cx="1401679" cy="196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0438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F26B-2130-5ABD-1030-3512CB68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24384"/>
            <a:ext cx="10515600" cy="896111"/>
          </a:xfrm>
        </p:spPr>
        <p:txBody>
          <a:bodyPr/>
          <a:lstStyle/>
          <a:p>
            <a:r>
              <a:rPr lang="en-US" dirty="0"/>
              <a:t>Main References: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850C-5E74-0EF3-4FD5-250D7EB72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920495"/>
            <a:ext cx="11789664" cy="5748528"/>
          </a:xfrm>
        </p:spPr>
        <p:txBody>
          <a:bodyPr>
            <a:noAutofit/>
          </a:bodyPr>
          <a:lstStyle/>
          <a:p>
            <a:pPr marL="676275" indent="-676275">
              <a:buNone/>
            </a:pPr>
            <a:r>
              <a:rPr lang="en-CA" sz="2000" dirty="0">
                <a:effectLst/>
              </a:rPr>
              <a:t>Bauer, M. (2023). </a:t>
            </a:r>
            <a:r>
              <a:rPr lang="en-CA" sz="2000" i="1" dirty="0">
                <a:effectLst/>
              </a:rPr>
              <a:t>The Stern-Gerlach Experiment, Translation of: “Der </a:t>
            </a:r>
            <a:r>
              <a:rPr lang="en-CA" sz="2000" i="1" dirty="0" err="1">
                <a:effectLst/>
              </a:rPr>
              <a:t>experimentelle</a:t>
            </a:r>
            <a:r>
              <a:rPr lang="en-CA" sz="2000" i="1" dirty="0">
                <a:effectLst/>
              </a:rPr>
              <a:t> </a:t>
            </a:r>
            <a:r>
              <a:rPr lang="en-CA" sz="2000" i="1" dirty="0" err="1">
                <a:effectLst/>
              </a:rPr>
              <a:t>Nachweis</a:t>
            </a:r>
            <a:r>
              <a:rPr lang="en-CA" sz="2000" i="1" dirty="0">
                <a:effectLst/>
              </a:rPr>
              <a:t> der </a:t>
            </a:r>
            <a:r>
              <a:rPr lang="en-CA" sz="2000" i="1" dirty="0" err="1">
                <a:effectLst/>
              </a:rPr>
              <a:t>Richtungsquantelung</a:t>
            </a:r>
            <a:r>
              <a:rPr lang="en-CA" sz="2000" i="1" dirty="0">
                <a:effectLst/>
              </a:rPr>
              <a:t> </a:t>
            </a:r>
            <a:r>
              <a:rPr lang="en-CA" sz="2000" i="1" dirty="0" err="1">
                <a:effectLst/>
              </a:rPr>
              <a:t>im</a:t>
            </a:r>
            <a:r>
              <a:rPr lang="en-CA" sz="2000" i="1" dirty="0">
                <a:effectLst/>
              </a:rPr>
              <a:t> </a:t>
            </a:r>
            <a:r>
              <a:rPr lang="en-CA" sz="2000" i="1" dirty="0" err="1">
                <a:effectLst/>
              </a:rPr>
              <a:t>Magnetfeld</a:t>
            </a:r>
            <a:r>
              <a:rPr lang="en-CA" sz="2000" i="1" dirty="0">
                <a:effectLst/>
              </a:rPr>
              <a:t>”</a:t>
            </a:r>
            <a:r>
              <a:rPr lang="en-CA" sz="2000" dirty="0">
                <a:effectLst/>
              </a:rPr>
              <a:t> (No. arXiv:2301.11343). </a:t>
            </a:r>
            <a:r>
              <a:rPr lang="en-CA" sz="2000" dirty="0" err="1">
                <a:effectLst/>
              </a:rPr>
              <a:t>arXiv</a:t>
            </a:r>
            <a:r>
              <a:rPr lang="en-CA" sz="2000" dirty="0">
                <a:effectLst/>
              </a:rPr>
              <a:t>. </a:t>
            </a:r>
            <a:r>
              <a:rPr lang="en-CA" sz="2000" dirty="0">
                <a:effectLst/>
                <a:hlinkClick r:id="rId2"/>
              </a:rPr>
              <a:t>https://doi.org/10.48550/arXiv.2301.11343</a:t>
            </a:r>
            <a:endParaRPr lang="en-CA" sz="2000" dirty="0">
              <a:effectLst/>
            </a:endParaRPr>
          </a:p>
          <a:p>
            <a:pPr marL="676275" indent="-676275">
              <a:buNone/>
            </a:pPr>
            <a:r>
              <a:rPr lang="en-CA" sz="2000" dirty="0">
                <a:effectLst/>
              </a:rPr>
              <a:t>Bloch, F., Hansen, W. W., &amp; Packard, M. (1946). The Nuclear Induction Experiment. </a:t>
            </a:r>
            <a:r>
              <a:rPr lang="en-CA" sz="2000" i="1" dirty="0">
                <a:effectLst/>
              </a:rPr>
              <a:t>Physical Review</a:t>
            </a:r>
            <a:r>
              <a:rPr lang="en-CA" sz="2000" dirty="0">
                <a:effectLst/>
              </a:rPr>
              <a:t>, </a:t>
            </a:r>
            <a:r>
              <a:rPr lang="en-CA" sz="2000" i="1" dirty="0">
                <a:effectLst/>
              </a:rPr>
              <a:t>70</a:t>
            </a:r>
            <a:r>
              <a:rPr lang="en-CA" sz="2000" dirty="0">
                <a:effectLst/>
              </a:rPr>
              <a:t>(7–8), 474–485. </a:t>
            </a:r>
            <a:r>
              <a:rPr lang="en-CA" sz="2000" dirty="0">
                <a:effectLst/>
                <a:hlinkClick r:id="rId3"/>
              </a:rPr>
              <a:t>https://doi.org/10.1103/PhysRev.70.474</a:t>
            </a:r>
            <a:endParaRPr lang="en-CA" sz="2000" dirty="0">
              <a:effectLst/>
            </a:endParaRPr>
          </a:p>
          <a:p>
            <a:pPr marL="676275" indent="-676275">
              <a:buNone/>
            </a:pPr>
            <a:r>
              <a:rPr lang="en-CA" sz="2000" dirty="0">
                <a:effectLst/>
              </a:rPr>
              <a:t>Ernst, R. R., &amp; Anderson, W. A. (1966). Application of Fourier Transform Spectroscopy to Magnetic Resonance. </a:t>
            </a:r>
            <a:r>
              <a:rPr lang="en-CA" sz="2000" i="1" dirty="0">
                <a:effectLst/>
              </a:rPr>
              <a:t>Review of Scientific Instruments</a:t>
            </a:r>
            <a:r>
              <a:rPr lang="en-CA" sz="2000" dirty="0">
                <a:effectLst/>
              </a:rPr>
              <a:t>, </a:t>
            </a:r>
            <a:r>
              <a:rPr lang="en-CA" sz="2000" i="1" dirty="0">
                <a:effectLst/>
              </a:rPr>
              <a:t>37</a:t>
            </a:r>
            <a:r>
              <a:rPr lang="en-CA" sz="2000" dirty="0">
                <a:effectLst/>
              </a:rPr>
              <a:t>(1), 93–102. </a:t>
            </a:r>
            <a:r>
              <a:rPr lang="en-CA" sz="2000" dirty="0">
                <a:effectLst/>
                <a:hlinkClick r:id="rId4"/>
              </a:rPr>
              <a:t>https://doi.org/10.1063/1.1719961</a:t>
            </a:r>
            <a:endParaRPr lang="en-CA" sz="2000" dirty="0">
              <a:effectLst/>
            </a:endParaRPr>
          </a:p>
          <a:p>
            <a:pPr marL="676275" indent="-676275">
              <a:buNone/>
            </a:pPr>
            <a:r>
              <a:rPr lang="en-CA" sz="2000" dirty="0">
                <a:effectLst/>
              </a:rPr>
              <a:t>Fourier, J. B. J. (2009). </a:t>
            </a:r>
            <a:r>
              <a:rPr lang="en-CA" sz="2000" i="1" dirty="0">
                <a:effectLst/>
              </a:rPr>
              <a:t>The Analytical Theory of Heat</a:t>
            </a:r>
            <a:r>
              <a:rPr lang="en-CA" sz="2000" dirty="0">
                <a:effectLst/>
              </a:rPr>
              <a:t> (A. Freeman, Trans.; 1st ed.). Cambridge University Press. </a:t>
            </a:r>
            <a:r>
              <a:rPr lang="en-CA" sz="2000" dirty="0">
                <a:effectLst/>
                <a:hlinkClick r:id="rId5"/>
              </a:rPr>
              <a:t>https://doi.org/10.1017/CBO9780511693205</a:t>
            </a:r>
            <a:endParaRPr lang="en-CA" sz="2000" dirty="0">
              <a:effectLst/>
            </a:endParaRPr>
          </a:p>
          <a:p>
            <a:pPr marL="676275" indent="-676275">
              <a:buNone/>
            </a:pPr>
            <a:r>
              <a:rPr lang="en-CA" sz="2000" dirty="0" err="1">
                <a:effectLst/>
              </a:rPr>
              <a:t>Khashami</a:t>
            </a:r>
            <a:r>
              <a:rPr lang="en-CA" sz="2000" dirty="0">
                <a:effectLst/>
              </a:rPr>
              <a:t>, F. (2024). </a:t>
            </a:r>
            <a:r>
              <a:rPr lang="en-CA" sz="2000" i="1" dirty="0">
                <a:effectLst/>
              </a:rPr>
              <a:t>A mini review of NMR and MRI</a:t>
            </a:r>
            <a:r>
              <a:rPr lang="en-CA" sz="2000" dirty="0">
                <a:effectLst/>
              </a:rPr>
              <a:t> (No. arXiv:2401.01389). </a:t>
            </a:r>
            <a:r>
              <a:rPr lang="en-CA" sz="2000" dirty="0" err="1">
                <a:effectLst/>
              </a:rPr>
              <a:t>arXiv</a:t>
            </a:r>
            <a:r>
              <a:rPr lang="en-CA" sz="2000" dirty="0">
                <a:effectLst/>
              </a:rPr>
              <a:t>. </a:t>
            </a:r>
            <a:r>
              <a:rPr lang="en-CA" sz="2000" dirty="0">
                <a:effectLst/>
                <a:hlinkClick r:id="rId6"/>
              </a:rPr>
              <a:t>https://doi.org/10.48550/arXiv.2401.01389</a:t>
            </a:r>
            <a:endParaRPr lang="en-CA" sz="2000" dirty="0">
              <a:effectLst/>
            </a:endParaRPr>
          </a:p>
          <a:p>
            <a:pPr marL="676275" indent="-676275">
              <a:buNone/>
            </a:pPr>
            <a:r>
              <a:rPr lang="en-CA" sz="2000" dirty="0">
                <a:effectLst/>
              </a:rPr>
              <a:t>Larmor, J. (1897). LXIII. </a:t>
            </a:r>
            <a:r>
              <a:rPr lang="en-CA" sz="2000" i="1" dirty="0">
                <a:effectLst/>
              </a:rPr>
              <a:t>On the theory of the magnetic influence on spectra; and on the radiation from moving ions</a:t>
            </a:r>
            <a:r>
              <a:rPr lang="en-CA" sz="2000" dirty="0">
                <a:effectLst/>
              </a:rPr>
              <a:t>. </a:t>
            </a:r>
            <a:r>
              <a:rPr lang="en-CA" sz="2000" i="1" dirty="0">
                <a:effectLst/>
              </a:rPr>
              <a:t>The London, Edinburgh, and Dublin Philosophical Magazine and Journal of Science</a:t>
            </a:r>
            <a:r>
              <a:rPr lang="en-CA" sz="2000" dirty="0">
                <a:effectLst/>
              </a:rPr>
              <a:t>, </a:t>
            </a:r>
            <a:r>
              <a:rPr lang="en-CA" sz="2000" i="1" dirty="0">
                <a:effectLst/>
              </a:rPr>
              <a:t>44</a:t>
            </a:r>
            <a:r>
              <a:rPr lang="en-CA" sz="2000" dirty="0">
                <a:effectLst/>
              </a:rPr>
              <a:t>(271), 503–512. </a:t>
            </a:r>
            <a:r>
              <a:rPr lang="en-CA" sz="2000" dirty="0">
                <a:effectLst/>
                <a:hlinkClick r:id="rId7"/>
              </a:rPr>
              <a:t>https://doi.org/10.1080/14786449708621095</a:t>
            </a:r>
            <a:endParaRPr lang="en-CA" sz="2000" dirty="0">
              <a:effectLst/>
            </a:endParaRPr>
          </a:p>
          <a:p>
            <a:pPr marL="676275" indent="-676275">
              <a:buNone/>
            </a:pPr>
            <a:r>
              <a:rPr lang="en-CA" sz="2000" dirty="0">
                <a:effectLst/>
              </a:rPr>
              <a:t>Purcell, E. M., Torrey, H. C., &amp; Pound, R. V. (1946). Resonance Absorption by Nuclear Magnetic Moments in a Solid. </a:t>
            </a:r>
            <a:r>
              <a:rPr lang="en-CA" sz="2000" i="1" dirty="0">
                <a:effectLst/>
              </a:rPr>
              <a:t>Physical Review</a:t>
            </a:r>
            <a:r>
              <a:rPr lang="en-CA" sz="2000" dirty="0">
                <a:effectLst/>
              </a:rPr>
              <a:t>, </a:t>
            </a:r>
            <a:r>
              <a:rPr lang="en-CA" sz="2000" i="1" dirty="0">
                <a:effectLst/>
              </a:rPr>
              <a:t>69</a:t>
            </a:r>
            <a:r>
              <a:rPr lang="en-CA" sz="2000" dirty="0">
                <a:effectLst/>
              </a:rPr>
              <a:t>(1–2), 37–38. </a:t>
            </a:r>
            <a:r>
              <a:rPr lang="en-CA" sz="2000" dirty="0">
                <a:effectLst/>
                <a:hlinkClick r:id="rId8"/>
              </a:rPr>
              <a:t>https://doi.org/10.1103/PhysRev.69.37</a:t>
            </a:r>
            <a:endParaRPr lang="en-CA" sz="2000" dirty="0">
              <a:effectLst/>
            </a:endParaRPr>
          </a:p>
          <a:p>
            <a:pPr marL="676275" indent="-676275">
              <a:buNone/>
            </a:pPr>
            <a:r>
              <a:rPr lang="en-CA" sz="2000" dirty="0">
                <a:effectLst/>
              </a:rPr>
              <a:t>Rabi, I. I., Zacharias, J. R., Millman, S., &amp; Kusch, P. (1938). A New Method of Measuring Nuclear Magnetic Moment. </a:t>
            </a:r>
            <a:r>
              <a:rPr lang="en-CA" sz="2000" i="1" dirty="0">
                <a:effectLst/>
              </a:rPr>
              <a:t>Physical Review</a:t>
            </a:r>
            <a:r>
              <a:rPr lang="en-CA" sz="2000" dirty="0">
                <a:effectLst/>
              </a:rPr>
              <a:t>, </a:t>
            </a:r>
            <a:r>
              <a:rPr lang="en-CA" sz="2000" i="1" dirty="0">
                <a:effectLst/>
              </a:rPr>
              <a:t>53</a:t>
            </a:r>
            <a:r>
              <a:rPr lang="en-CA" sz="2000" dirty="0">
                <a:effectLst/>
              </a:rPr>
              <a:t>(4), 318–318. </a:t>
            </a:r>
            <a:r>
              <a:rPr lang="en-CA" sz="2000" dirty="0">
                <a:effectLst/>
                <a:hlinkClick r:id="rId9"/>
              </a:rPr>
              <a:t>https://doi.org/10.1103/PhysRev.53.318</a:t>
            </a:r>
            <a:endParaRPr lang="en-CA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0317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6D962-830B-EAB7-A1A2-0DAB430D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D1927-FAFB-9F65-82C1-F67EF09C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" y="213361"/>
            <a:ext cx="10515600" cy="896111"/>
          </a:xfrm>
        </p:spPr>
        <p:txBody>
          <a:bodyPr/>
          <a:lstStyle/>
          <a:p>
            <a:r>
              <a:rPr lang="en-US" dirty="0"/>
              <a:t>Image URLs in Order of Presentation: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7D871-2DDE-F3D7-017F-D08E5FFF0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416" y="1109472"/>
            <a:ext cx="11753088" cy="5535167"/>
          </a:xfrm>
        </p:spPr>
        <p:txBody>
          <a:bodyPr>
            <a:normAutofit/>
          </a:bodyPr>
          <a:lstStyle/>
          <a:p>
            <a:r>
              <a:rPr lang="en-US" sz="2000" dirty="0"/>
              <a:t>https://</a:t>
            </a:r>
            <a:r>
              <a:rPr lang="en-US" sz="2000" dirty="0" err="1"/>
              <a:t>www.alcirclebiz.com</a:t>
            </a:r>
            <a:r>
              <a:rPr lang="en-US" sz="2000" dirty="0"/>
              <a:t>//Uploads/</a:t>
            </a:r>
            <a:r>
              <a:rPr lang="en-US" sz="2000" dirty="0" err="1"/>
              <a:t>ProductImage</a:t>
            </a:r>
            <a:r>
              <a:rPr lang="en-US" sz="2000" dirty="0"/>
              <a:t>/17984/1688302544383.JPEG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canvas.ubc.ca</a:t>
            </a:r>
            <a:r>
              <a:rPr lang="en-US" sz="2000" dirty="0"/>
              <a:t>/courses/181840/files/40250851?module_item_id=8206638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commons.wikimedia.org</a:t>
            </a:r>
            <a:r>
              <a:rPr lang="en-US" sz="2000" dirty="0"/>
              <a:t>/wiki/</a:t>
            </a:r>
            <a:r>
              <a:rPr lang="en-US" sz="2000" dirty="0" err="1"/>
              <a:t>File:Crystal_Meth.jpg</a:t>
            </a:r>
            <a:endParaRPr lang="en-US" sz="2000" dirty="0"/>
          </a:p>
          <a:p>
            <a:r>
              <a:rPr lang="en-US" sz="2000" dirty="0"/>
              <a:t>https://</a:t>
            </a:r>
            <a:r>
              <a:rPr lang="en-US" sz="2000" dirty="0" err="1"/>
              <a:t>chem.ubc.ca</a:t>
            </a:r>
            <a:r>
              <a:rPr lang="en-US" sz="2000" dirty="0"/>
              <a:t>/high-resolution-</a:t>
            </a:r>
            <a:r>
              <a:rPr lang="en-US" sz="2000" dirty="0" err="1"/>
              <a:t>nmr</a:t>
            </a:r>
            <a:r>
              <a:rPr lang="en-US" sz="2000" dirty="0"/>
              <a:t>-spectroscopy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hobarts.com</a:t>
            </a:r>
            <a:r>
              <a:rPr lang="en-US" sz="2000" dirty="0"/>
              <a:t>/pages/the-ultimate-guide-to-lasers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theory.labster.com</a:t>
            </a:r>
            <a:r>
              <a:rPr lang="en-US" sz="2000" dirty="0"/>
              <a:t>/electromagnetic-waves/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www.hofner.com</a:t>
            </a:r>
            <a:r>
              <a:rPr lang="en-US" sz="2000" dirty="0"/>
              <a:t>/shop/h500-1-61-0-h500-1-61-0-violin-bass-cavern-3201?category=476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www.nobelprize.org</a:t>
            </a:r>
            <a:r>
              <a:rPr lang="en-US" sz="2000" dirty="0"/>
              <a:t>/prizes/physics/1944/rabi/facts/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www.nobelprize.org</a:t>
            </a:r>
            <a:r>
              <a:rPr lang="en-US" sz="2000" dirty="0"/>
              <a:t>/prizes/physics/1952/summary/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www.nobelprize.org</a:t>
            </a:r>
            <a:r>
              <a:rPr lang="en-US" sz="2000" dirty="0"/>
              <a:t>/prizes/chemistry/1991/</a:t>
            </a:r>
            <a:r>
              <a:rPr lang="en-US" sz="2000" dirty="0" err="1"/>
              <a:t>ernst</a:t>
            </a:r>
            <a:r>
              <a:rPr lang="en-US" sz="2000" dirty="0"/>
              <a:t>/facts/</a:t>
            </a:r>
          </a:p>
          <a:p>
            <a:r>
              <a:rPr lang="en-US" sz="2000" dirty="0"/>
              <a:t>https://</a:t>
            </a:r>
            <a:r>
              <a:rPr lang="en-US" sz="2000" dirty="0" err="1"/>
              <a:t>commons.wikimedia.org</a:t>
            </a:r>
            <a:r>
              <a:rPr lang="en-US" sz="2000" dirty="0"/>
              <a:t>/wiki/File:Fourier2.jpg</a:t>
            </a:r>
          </a:p>
          <a:p>
            <a:r>
              <a:rPr lang="en-US" sz="2000" dirty="0"/>
              <a:t>All NMR spectra generated using </a:t>
            </a:r>
            <a:r>
              <a:rPr lang="en-US" sz="2000" dirty="0" err="1"/>
              <a:t>nmrium.com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893763" indent="-74930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71230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1702</TotalTime>
  <Words>1566</Words>
  <Application>Microsoft Macintosh PowerPoint</Application>
  <PresentationFormat>Widescreen</PresentationFormat>
  <Paragraphs>303</Paragraphs>
  <Slides>44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Impact</vt:lpstr>
      <vt:lpstr>Office Theme</vt:lpstr>
      <vt:lpstr>PowerPoint Presentation</vt:lpstr>
      <vt:lpstr>The Problem</vt:lpstr>
      <vt:lpstr>PowerPoint Presentation</vt:lpstr>
      <vt:lpstr>PowerPoint Presentation</vt:lpstr>
      <vt:lpstr>PowerPoint Presentation</vt:lpstr>
      <vt:lpstr>At the subatomic scale,  nuclei behave like bar magnets </vt:lpstr>
      <vt:lpstr>Properties of Magnets!</vt:lpstr>
      <vt:lpstr>PowerPoint Presentation</vt:lpstr>
      <vt:lpstr>PowerPoint Presentation</vt:lpstr>
      <vt:lpstr>The Stern-Gerlach Experiment – Discovery of Spin</vt:lpstr>
      <vt:lpstr>Absorbing  RF waves</vt:lpstr>
      <vt:lpstr>PowerPoint Presentation</vt:lpstr>
      <vt:lpstr>PowerPoint Presentation</vt:lpstr>
      <vt:lpstr>PowerPoint Presentation</vt:lpstr>
      <vt:lpstr>PowerPoint Presentation</vt:lpstr>
      <vt:lpstr>String frequency depends on  tension and thickness </vt:lpstr>
      <vt:lpstr>String frequency depends on  tension and thickness </vt:lpstr>
      <vt:lpstr>Isidor Rabi</vt:lpstr>
      <vt:lpstr>Isidor Rabi</vt:lpstr>
      <vt:lpstr>First NMR Spectrograph</vt:lpstr>
      <vt:lpstr>Edward Mills Purcell</vt:lpstr>
      <vt:lpstr>Richard Ernst</vt:lpstr>
      <vt:lpstr>PowerPoint Presentation</vt:lpstr>
      <vt:lpstr>PowerPoint Presentation</vt:lpstr>
      <vt:lpstr>Richard Ernst</vt:lpstr>
      <vt:lpstr>Nuance:</vt:lpstr>
      <vt:lpstr>But what nuclei resonate?</vt:lpstr>
      <vt:lpstr>How to Differentiate the Signal 101</vt:lpstr>
      <vt:lpstr>Chemical Environment and Shift</vt:lpstr>
      <vt:lpstr>PowerPoint Presentation</vt:lpstr>
      <vt:lpstr>PowerPoint Presentation</vt:lpstr>
      <vt:lpstr>PowerPoint Presentation</vt:lpstr>
      <vt:lpstr>J-coupling (briefly)</vt:lpstr>
      <vt:lpstr>J-coupling (briefly)</vt:lpstr>
      <vt:lpstr>J-coupling (briefly)</vt:lpstr>
      <vt:lpstr>Applications</vt:lpstr>
      <vt:lpstr>How it works</vt:lpstr>
      <vt:lpstr>How it differs</vt:lpstr>
      <vt:lpstr>Tumors</vt:lpstr>
      <vt:lpstr>Nobels</vt:lpstr>
      <vt:lpstr>PowerPoint Presentation</vt:lpstr>
      <vt:lpstr>PowerPoint Presentation</vt:lpstr>
      <vt:lpstr>Main References: </vt:lpstr>
      <vt:lpstr>Image URLs in Order of Presentation: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nvirjee@student.ubc.ca</dc:creator>
  <cp:lastModifiedBy>nvirjee@student.ubc.ca</cp:lastModifiedBy>
  <cp:revision>3</cp:revision>
  <dcterms:created xsi:type="dcterms:W3CDTF">2025-10-30T18:31:24Z</dcterms:created>
  <dcterms:modified xsi:type="dcterms:W3CDTF">2025-11-15T11:37:29Z</dcterms:modified>
</cp:coreProperties>
</file>